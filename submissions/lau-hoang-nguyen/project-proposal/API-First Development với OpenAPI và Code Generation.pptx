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7" r:id="rId5"/>
    <p:sldId id="259" r:id="rId6"/>
    <p:sldId id="260" r:id="rId7"/>
    <p:sldId id="261" r:id="rId8"/>
    <p:sldId id="271" r:id="rId9"/>
    <p:sldId id="262" r:id="rId10"/>
    <p:sldId id="269" r:id="rId11"/>
    <p:sldId id="270" r:id="rId12"/>
    <p:sldId id="273" r:id="rId13"/>
    <p:sldId id="272"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91" r:id="rId28"/>
    <p:sldId id="287" r:id="rId29"/>
    <p:sldId id="288" r:id="rId30"/>
    <p:sldId id="289" r:id="rId31"/>
    <p:sldId id="292" r:id="rId32"/>
    <p:sldId id="293" r:id="rId33"/>
    <p:sldId id="294" r:id="rId34"/>
    <p:sldId id="295" r:id="rId35"/>
    <p:sldId id="296" r:id="rId36"/>
    <p:sldId id="29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E3F"/>
    <a:srgbClr val="FE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7E000-AF8D-35D4-9733-EF2519A1A0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A287F4-2A6E-58F6-A2C1-5A78707BB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934259-2327-EEDF-6858-490E83A5E2B5}"/>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3864195D-2880-EAE2-BA5C-933197073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F3A4CF-100F-51FA-7803-0AFF548B9FB1}"/>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3190287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9A84-76C4-0A14-707E-8003C2391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3F1BDA-35E7-CA32-C59C-35360BDDCF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35870-4FD3-AB6E-9D28-E7DE41C551D4}"/>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A3C6AB2A-45A3-0378-F2D6-1558F2789B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12E1CD-754A-05C3-17AD-CABC6A1863AE}"/>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256790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ECD9-8F93-2B6E-3070-2BA80E6314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10D1BA-BFBA-4D0D-27CE-6E4C764ECE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E3665D-FFF0-7B74-760D-EE1F03148994}"/>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D1C05FBE-9DA0-8D42-0C7F-2B69A94AF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FCD3C-0A79-F52A-CB6B-BE5F9CCFB6F5}"/>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258373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A788-FCB2-F9BF-B828-25E380C92C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45DBF-E850-324A-A0B3-36143B5519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FEF362-1042-8885-B344-18EABE7E45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84A0A1-E0AA-BEF6-55FA-1CA2C0DF6262}"/>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6" name="Footer Placeholder 5">
            <a:extLst>
              <a:ext uri="{FF2B5EF4-FFF2-40B4-BE49-F238E27FC236}">
                <a16:creationId xmlns:a16="http://schemas.microsoft.com/office/drawing/2014/main" id="{361490E7-FB38-51BF-3F5B-C964F2724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E7F6D0-6D25-1FB5-3030-6F4634A2C3E5}"/>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1306949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A42C-AD43-3CD3-CFC3-87123C3B24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A9704-C14D-427D-27BB-6ECF2EAB10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728A1F-14C9-8E59-73A4-118DB821C8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7FD7B7-0EBC-7BAF-A604-033467D398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454D02-B193-7E99-99DD-7F5B65833D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08D69A-A642-8886-A8EF-A44856649F62}"/>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8" name="Footer Placeholder 7">
            <a:extLst>
              <a:ext uri="{FF2B5EF4-FFF2-40B4-BE49-F238E27FC236}">
                <a16:creationId xmlns:a16="http://schemas.microsoft.com/office/drawing/2014/main" id="{34D093A3-F80E-9ADF-8135-8556A7CC9A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E17663-DF34-FAC2-FDFB-D1A10F1CA053}"/>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1962398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3C9E-8BAD-79A5-5BD4-41A643AF00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8D2105-A086-1E92-81E5-CFAA1FBEA40F}"/>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4" name="Footer Placeholder 3">
            <a:extLst>
              <a:ext uri="{FF2B5EF4-FFF2-40B4-BE49-F238E27FC236}">
                <a16:creationId xmlns:a16="http://schemas.microsoft.com/office/drawing/2014/main" id="{E0B0D973-6B73-AEC9-E5CC-6B0D5B683E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37A02D-03B0-8E11-8F90-8E2B8B593242}"/>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125523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4C228-636C-AD59-7E7D-E4468A093A04}"/>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3" name="Footer Placeholder 2">
            <a:extLst>
              <a:ext uri="{FF2B5EF4-FFF2-40B4-BE49-F238E27FC236}">
                <a16:creationId xmlns:a16="http://schemas.microsoft.com/office/drawing/2014/main" id="{91F99C9F-99BD-9E37-1499-06762E1BDB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62BCAF-8A63-1897-8F27-AC4102C0CF71}"/>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2450230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B731-8790-85EB-3B3E-7B21E684A4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72D611-F763-0B24-0359-9C0D851C7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D7FBDE-5D4A-3094-81E5-208C27B170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F6022-7A02-E5FF-50A8-462516FC0B8E}"/>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6" name="Footer Placeholder 5">
            <a:extLst>
              <a:ext uri="{FF2B5EF4-FFF2-40B4-BE49-F238E27FC236}">
                <a16:creationId xmlns:a16="http://schemas.microsoft.com/office/drawing/2014/main" id="{DF62B045-D7AC-74A2-122C-2E7F4C917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AAFBDB-C071-CBF5-8355-D106F70C66D4}"/>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3011393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7497-1715-28B8-8503-411B4AFC4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A9E9AB-DAB7-DDD0-F9EF-8B2C9023D3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838993-E410-8BA1-2A72-BA6C0A72B9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C7276D-D293-4046-5F6F-435EF7EC0BEF}"/>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6" name="Footer Placeholder 5">
            <a:extLst>
              <a:ext uri="{FF2B5EF4-FFF2-40B4-BE49-F238E27FC236}">
                <a16:creationId xmlns:a16="http://schemas.microsoft.com/office/drawing/2014/main" id="{92D33F5B-192E-2F78-43BD-6CA74FF3F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93052-E835-D8D3-7BE4-6098013A1922}"/>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2060216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9587-19C8-8942-D658-C6C95613C8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95861E-06BE-4396-6FBF-ABA8D31260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C7B4D-CD21-ABD3-8BE1-5917E878C116}"/>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C5C1D82C-62F0-F0FA-34F2-B772277D1D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227F9-891C-287D-225F-DBB15CC0E3F4}"/>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427593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38500-2977-B2D1-FF1F-0B55EE02FC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5A40B6-DEAB-C45D-FCD9-B6E80633D0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FDB97-991B-2EAD-57F0-D521231E219F}"/>
              </a:ext>
            </a:extLst>
          </p:cNvPr>
          <p:cNvSpPr>
            <a:spLocks noGrp="1"/>
          </p:cNvSpPr>
          <p:nvPr>
            <p:ph type="dt" sz="half" idx="10"/>
          </p:nvPr>
        </p:nvSpPr>
        <p:spPr/>
        <p:txBody>
          <a:body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7E7E3257-4C4B-710D-2C81-935DBD2172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C1330-0D96-7D22-A4DC-99AD26E095E7}"/>
              </a:ext>
            </a:extLst>
          </p:cNvPr>
          <p:cNvSpPr>
            <a:spLocks noGrp="1"/>
          </p:cNvSpPr>
          <p:nvPr>
            <p:ph type="sldNum" sz="quarter" idx="12"/>
          </p:nvPr>
        </p:nvSpPr>
        <p:spPr/>
        <p:txBody>
          <a:bodyPr/>
          <a:lstStyle/>
          <a:p>
            <a:fld id="{E0529184-9C04-4A58-933A-F2EC6D16F0D8}" type="slidenum">
              <a:rPr lang="en-US" smtClean="0"/>
              <a:t>‹#›</a:t>
            </a:fld>
            <a:endParaRPr lang="en-US"/>
          </a:p>
        </p:txBody>
      </p:sp>
    </p:spTree>
    <p:extLst>
      <p:ext uri="{BB962C8B-B14F-4D97-AF65-F5344CB8AC3E}">
        <p14:creationId xmlns:p14="http://schemas.microsoft.com/office/powerpoint/2010/main" val="3912520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0B205F-521E-62F8-D383-5FE6A37E55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8276DE-B85D-DCFC-16C7-DBCB772A2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0FD1E-75D7-F7F8-51B2-2D04DC849F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3F5D35-9297-4E27-9FDB-A9BFA99ED5D2}" type="datetimeFigureOut">
              <a:rPr lang="en-US" smtClean="0"/>
              <a:t>7/8/2025</a:t>
            </a:fld>
            <a:endParaRPr lang="en-US"/>
          </a:p>
        </p:txBody>
      </p:sp>
      <p:sp>
        <p:nvSpPr>
          <p:cNvPr id="5" name="Footer Placeholder 4">
            <a:extLst>
              <a:ext uri="{FF2B5EF4-FFF2-40B4-BE49-F238E27FC236}">
                <a16:creationId xmlns:a16="http://schemas.microsoft.com/office/drawing/2014/main" id="{FA153CFC-8238-E716-8C08-0BC56C671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396751C-F34D-EA8D-253C-839EE36EF1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529184-9C04-4A58-933A-F2EC6D16F0D8}" type="slidenum">
              <a:rPr lang="en-US" smtClean="0"/>
              <a:t>‹#›</a:t>
            </a:fld>
            <a:endParaRPr lang="en-US"/>
          </a:p>
        </p:txBody>
      </p:sp>
    </p:spTree>
    <p:extLst>
      <p:ext uri="{BB962C8B-B14F-4D97-AF65-F5344CB8AC3E}">
        <p14:creationId xmlns:p14="http://schemas.microsoft.com/office/powerpoint/2010/main" val="2750301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67277-3E9F-BAE0-FF9F-DD87356518D9}"/>
              </a:ext>
            </a:extLst>
          </p:cNvPr>
          <p:cNvSpPr>
            <a:spLocks noGrp="1"/>
          </p:cNvSpPr>
          <p:nvPr>
            <p:ph type="ctrTitle"/>
          </p:nvPr>
        </p:nvSpPr>
        <p:spPr>
          <a:xfrm>
            <a:off x="1042554" y="1248498"/>
            <a:ext cx="10106891" cy="2387600"/>
          </a:xfrm>
        </p:spPr>
        <p:txBody>
          <a:bodyPr>
            <a:normAutofit fontScale="90000"/>
          </a:bodyPr>
          <a:lstStyle/>
          <a:p>
            <a:r>
              <a:rPr lang="en-US" b="1" dirty="0">
                <a:latin typeface="Arial" panose="020B0604020202020204" pitchFamily="34" charset="0"/>
                <a:cs typeface="Arial" panose="020B0604020202020204" pitchFamily="34" charset="0"/>
              </a:rPr>
              <a:t>API-First Development </a:t>
            </a:r>
            <a:r>
              <a:rPr lang="en-US" b="1" dirty="0" err="1">
                <a:latin typeface="Arial" panose="020B0604020202020204" pitchFamily="34" charset="0"/>
                <a:cs typeface="Arial" panose="020B0604020202020204" pitchFamily="34" charset="0"/>
              </a:rPr>
              <a:t>với</a:t>
            </a:r>
            <a:r>
              <a:rPr lang="en-US" b="1" dirty="0">
                <a:latin typeface="Arial" panose="020B0604020202020204" pitchFamily="34" charset="0"/>
                <a:cs typeface="Arial" panose="020B0604020202020204" pitchFamily="34" charset="0"/>
              </a:rPr>
              <a:t> OpenAPI </a:t>
            </a:r>
            <a:r>
              <a:rPr lang="en-US" b="1" dirty="0" err="1">
                <a:latin typeface="Arial" panose="020B0604020202020204" pitchFamily="34" charset="0"/>
                <a:cs typeface="Arial" panose="020B0604020202020204" pitchFamily="34" charset="0"/>
              </a:rPr>
              <a:t>và</a:t>
            </a:r>
            <a:r>
              <a:rPr lang="en-US" b="1" dirty="0">
                <a:latin typeface="Arial" panose="020B0604020202020204" pitchFamily="34" charset="0"/>
                <a:cs typeface="Arial" panose="020B0604020202020204" pitchFamily="34" charset="0"/>
              </a:rPr>
              <a:t> </a:t>
            </a:r>
            <a:r>
              <a:rPr lang="en-US" sz="6700" b="1" dirty="0">
                <a:latin typeface="Arial" panose="020B0604020202020204" pitchFamily="34" charset="0"/>
                <a:cs typeface="Arial" panose="020B0604020202020204" pitchFamily="34" charset="0"/>
              </a:rPr>
              <a:t>Code</a:t>
            </a:r>
            <a:r>
              <a:rPr lang="en-US" b="1" dirty="0">
                <a:latin typeface="Arial" panose="020B0604020202020204" pitchFamily="34" charset="0"/>
                <a:cs typeface="Arial" panose="020B0604020202020204" pitchFamily="34" charset="0"/>
              </a:rPr>
              <a:t> Generation</a:t>
            </a:r>
            <a:endParaRPr lang="en-US"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C154475F-F137-05D5-76F8-0FCF3EF40147}"/>
              </a:ext>
            </a:extLst>
          </p:cNvPr>
          <p:cNvSpPr>
            <a:spLocks noGrp="1"/>
          </p:cNvSpPr>
          <p:nvPr>
            <p:ph type="subTitle" idx="1"/>
          </p:nvPr>
        </p:nvSpPr>
        <p:spPr>
          <a:xfrm>
            <a:off x="1524000" y="4376883"/>
            <a:ext cx="9144000" cy="2387600"/>
          </a:xfrm>
        </p:spPr>
        <p:txBody>
          <a:bodyPr>
            <a:noAutofit/>
          </a:bodyPr>
          <a:lstStyle/>
          <a:p>
            <a:r>
              <a:rPr lang="vi-VN" sz="2800" dirty="0">
                <a:cs typeface="Arial" panose="020B0604020202020204" pitchFamily="34" charset="0"/>
              </a:rPr>
              <a:t>Tối ưu hóa quy trình phát triển API theo chuẩn hiện đại</a:t>
            </a:r>
            <a:endParaRPr lang="en-US" sz="2800" dirty="0">
              <a:cs typeface="Arial" panose="020B0604020202020204" pitchFamily="34" charset="0"/>
            </a:endParaRPr>
          </a:p>
          <a:p>
            <a:endParaRPr lang="en-US" sz="2800" dirty="0">
              <a:cs typeface="Arial" panose="020B0604020202020204" pitchFamily="34" charset="0"/>
            </a:endParaRPr>
          </a:p>
          <a:p>
            <a:r>
              <a:rPr lang="vi-VN" sz="2800" dirty="0">
                <a:cs typeface="Arial" panose="020B0604020202020204" pitchFamily="34" charset="0"/>
              </a:rPr>
              <a:t> </a:t>
            </a:r>
            <a:endParaRPr lang="en-US" sz="28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FCJ Internship – Lầu Hoàng Nguyên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10/07/2025</a:t>
            </a:r>
          </a:p>
        </p:txBody>
      </p:sp>
      <p:pic>
        <p:nvPicPr>
          <p:cNvPr id="1026" name="Picture 2">
            <a:extLst>
              <a:ext uri="{FF2B5EF4-FFF2-40B4-BE49-F238E27FC236}">
                <a16:creationId xmlns:a16="http://schemas.microsoft.com/office/drawing/2014/main" id="{121D1FA4-763A-F611-C70B-0CCD9F4FA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707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84A0E-767F-7A63-FED1-06E252CF5E0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2C6BDE8-5D06-7E51-0330-5183C6680DB3}"/>
              </a:ext>
            </a:extLst>
          </p:cNvPr>
          <p:cNvSpPr/>
          <p:nvPr/>
        </p:nvSpPr>
        <p:spPr>
          <a:xfrm>
            <a:off x="7377545" y="218210"/>
            <a:ext cx="4814455"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675E6ABF-346E-5015-39D2-ADBA4FAFDD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EE5E956-502D-87B8-A62F-7F15ED12082A}"/>
              </a:ext>
            </a:extLst>
          </p:cNvPr>
          <p:cNvSpPr txBox="1"/>
          <p:nvPr/>
        </p:nvSpPr>
        <p:spPr>
          <a:xfrm>
            <a:off x="7577570" y="410188"/>
            <a:ext cx="4694093" cy="646331"/>
          </a:xfrm>
          <a:prstGeom prst="rect">
            <a:avLst/>
          </a:prstGeom>
          <a:noFill/>
          <a:ln>
            <a:solidFill>
              <a:srgbClr val="252E3F"/>
            </a:solidFill>
          </a:ln>
        </p:spPr>
        <p:txBody>
          <a:bodyPr wrap="square">
            <a:spAutoFit/>
          </a:bodyPr>
          <a:lstStyle/>
          <a:p>
            <a:pPr>
              <a:buNone/>
            </a:pPr>
            <a:r>
              <a:rPr lang="en-US" sz="3600" b="1" dirty="0">
                <a:solidFill>
                  <a:srgbClr val="FEFFFF"/>
                </a:solidFill>
                <a:latin typeface="Arial" panose="020B0604020202020204" pitchFamily="34" charset="0"/>
                <a:cs typeface="Arial" panose="020B0604020202020204" pitchFamily="34" charset="0"/>
              </a:rPr>
              <a:t>Executive Summary</a:t>
            </a:r>
          </a:p>
        </p:txBody>
      </p:sp>
      <p:sp>
        <p:nvSpPr>
          <p:cNvPr id="9" name="TextBox 8">
            <a:extLst>
              <a:ext uri="{FF2B5EF4-FFF2-40B4-BE49-F238E27FC236}">
                <a16:creationId xmlns:a16="http://schemas.microsoft.com/office/drawing/2014/main" id="{D933CB46-94C0-98B2-762B-F046FD35EAF6}"/>
              </a:ext>
            </a:extLst>
          </p:cNvPr>
          <p:cNvSpPr txBox="1"/>
          <p:nvPr/>
        </p:nvSpPr>
        <p:spPr>
          <a:xfrm>
            <a:off x="952499" y="2182091"/>
            <a:ext cx="10287001" cy="2886175"/>
          </a:xfrm>
          <a:prstGeom prst="rect">
            <a:avLst/>
          </a:prstGeom>
          <a:noFill/>
        </p:spPr>
        <p:txBody>
          <a:bodyPr wrap="square" rtlCol="0">
            <a:spAutoFit/>
          </a:bodyPr>
          <a:lstStyle/>
          <a:p>
            <a:pPr marL="457200" indent="-457200">
              <a:lnSpc>
                <a:spcPct val="150000"/>
              </a:lnSpc>
              <a:buFont typeface="Wingdings" panose="05000000000000000000" pitchFamily="2" charset="2"/>
              <a:buChar char="q"/>
            </a:pPr>
            <a:r>
              <a:rPr lang="en-US" sz="2800" b="1" dirty="0">
                <a:solidFill>
                  <a:srgbClr val="00B050"/>
                </a:solidFill>
                <a:latin typeface="Arial" panose="020B0604020202020204" pitchFamily="34" charset="0"/>
                <a:cs typeface="Arial" panose="020B0604020202020204" pitchFamily="34" charset="0"/>
              </a:rPr>
              <a:t>Problem</a:t>
            </a:r>
          </a:p>
          <a:p>
            <a:pPr algn="just">
              <a:lnSpc>
                <a:spcPct val="150000"/>
              </a:lnSpc>
            </a:pPr>
            <a:r>
              <a:rPr lang="en-US" sz="2400" b="1" dirty="0">
                <a:solidFill>
                  <a:srgbClr val="FF0000"/>
                </a:solidFill>
                <a:latin typeface="Arial" panose="020B0604020202020204" pitchFamily="34" charset="0"/>
                <a:cs typeface="Arial" panose="020B0604020202020204" pitchFamily="34" charset="0"/>
              </a:rPr>
              <a:t>	</a:t>
            </a:r>
            <a:r>
              <a:rPr lang="vi-VN" sz="2400" dirty="0"/>
              <a:t>Trong quá trình phát triển ứng dụng, việc frontend và backend không đồng bộ, thiếu tài liệu API, khó kiểm thử sớm, và quy trình triển khai thủ công gây ra lỗi và chậm trễ. Điều này ảnh hưởng đến tốc độ phát triển và chất lượng phần mềm.</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1489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5E009-32D1-ADD1-EFBE-751F25ECD9E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93CB673-E86E-9DC7-1F1D-E592DC7E7B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631C05D-3E2D-DE2B-EEDA-F2CBC3EACD55}"/>
              </a:ext>
            </a:extLst>
          </p:cNvPr>
          <p:cNvSpPr/>
          <p:nvPr/>
        </p:nvSpPr>
        <p:spPr>
          <a:xfrm>
            <a:off x="7377545" y="218210"/>
            <a:ext cx="4814455"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406702-A8EA-2C59-043A-1670254BB28B}"/>
              </a:ext>
            </a:extLst>
          </p:cNvPr>
          <p:cNvSpPr txBox="1"/>
          <p:nvPr/>
        </p:nvSpPr>
        <p:spPr>
          <a:xfrm>
            <a:off x="7577570" y="410188"/>
            <a:ext cx="4694093" cy="646331"/>
          </a:xfrm>
          <a:prstGeom prst="rect">
            <a:avLst/>
          </a:prstGeom>
          <a:noFill/>
          <a:ln>
            <a:solidFill>
              <a:srgbClr val="252E3F"/>
            </a:solidFill>
          </a:ln>
        </p:spPr>
        <p:txBody>
          <a:bodyPr wrap="square">
            <a:spAutoFit/>
          </a:bodyPr>
          <a:lstStyle/>
          <a:p>
            <a:pPr>
              <a:buNone/>
            </a:pPr>
            <a:r>
              <a:rPr lang="en-US" sz="3600" b="1" dirty="0">
                <a:solidFill>
                  <a:srgbClr val="FEFFFF"/>
                </a:solidFill>
                <a:latin typeface="Arial" panose="020B0604020202020204" pitchFamily="34" charset="0"/>
                <a:cs typeface="Arial" panose="020B0604020202020204" pitchFamily="34" charset="0"/>
              </a:rPr>
              <a:t>Executive Summary</a:t>
            </a:r>
          </a:p>
        </p:txBody>
      </p:sp>
      <p:sp>
        <p:nvSpPr>
          <p:cNvPr id="5" name="TextBox 4">
            <a:extLst>
              <a:ext uri="{FF2B5EF4-FFF2-40B4-BE49-F238E27FC236}">
                <a16:creationId xmlns:a16="http://schemas.microsoft.com/office/drawing/2014/main" id="{036C8AD1-E9A1-EDC1-5F07-59BD96E5DFE4}"/>
              </a:ext>
            </a:extLst>
          </p:cNvPr>
          <p:cNvSpPr txBox="1"/>
          <p:nvPr/>
        </p:nvSpPr>
        <p:spPr>
          <a:xfrm>
            <a:off x="267565" y="1440476"/>
            <a:ext cx="6146221" cy="5460149"/>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US" sz="2800" b="1" dirty="0">
                <a:solidFill>
                  <a:srgbClr val="00B050"/>
                </a:solidFill>
                <a:latin typeface="Arial" panose="020B0604020202020204" pitchFamily="34" charset="0"/>
                <a:cs typeface="Arial" panose="020B0604020202020204" pitchFamily="34" charset="0"/>
              </a:rPr>
              <a:t>Solution Overview</a:t>
            </a:r>
            <a:endParaRPr lang="en-US" sz="2800" b="1" dirty="0">
              <a:solidFill>
                <a:schemeClr val="accent6"/>
              </a:solidFill>
              <a:latin typeface="Arial" panose="020B0604020202020204" pitchFamily="34" charset="0"/>
              <a:cs typeface="Arial" panose="020B0604020202020204" pitchFamily="34" charset="0"/>
            </a:endParaRPr>
          </a:p>
          <a:p>
            <a:pPr algn="just">
              <a:lnSpc>
                <a:spcPct val="150000"/>
              </a:lnSpc>
            </a:pPr>
            <a:r>
              <a:rPr lang="vi-VN" sz="2000" dirty="0">
                <a:latin typeface="Arial" panose="020B0604020202020204" pitchFamily="34" charset="0"/>
                <a:cs typeface="Arial" panose="020B0604020202020204" pitchFamily="34" charset="0"/>
              </a:rPr>
              <a:t>Triển khai quy trình API-First Development sử dụng OpenAPI Specification và các dịch vụ AWS như:</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OpenAPI Spec để định nghĩa hợp đồng API</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Code Generation tạo sẵn stub server &amp; client</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Jest + CodeBuild kiểm thử tự động</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Redoc sinh tài liệu API đẹp mắt</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CodePipeline triển khai liên tục đến AWS Lambda</a:t>
            </a:r>
          </a:p>
          <a:p>
            <a:pPr marL="800100" lvl="1" indent="-3429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CloudWatch + X-Ray để theo dõi hệ thống</a:t>
            </a:r>
          </a:p>
          <a:p>
            <a:pPr>
              <a:lnSpc>
                <a:spcPct val="150000"/>
              </a:lnSpc>
            </a:pPr>
            <a:endParaRPr lang="en-US" sz="2800" b="1" dirty="0">
              <a:solidFill>
                <a:schemeClr val="accent6"/>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B1D34C-2F2D-260D-A260-117CDC090296}"/>
              </a:ext>
            </a:extLst>
          </p:cNvPr>
          <p:cNvSpPr txBox="1"/>
          <p:nvPr/>
        </p:nvSpPr>
        <p:spPr>
          <a:xfrm>
            <a:off x="6789160" y="1596339"/>
            <a:ext cx="4952568" cy="4621201"/>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B050"/>
                </a:solidFill>
                <a:latin typeface="Arial" panose="020B0604020202020204" pitchFamily="34" charset="0"/>
                <a:cs typeface="Arial" panose="020B0604020202020204" pitchFamily="34" charset="0"/>
              </a:rPr>
              <a:t>Business Impact &amp; ROI</a:t>
            </a:r>
          </a:p>
          <a:p>
            <a:pPr marL="457200" indent="-4572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Giảm 50–60% effort phát triển API</a:t>
            </a:r>
            <a:endParaRPr lang="en-US" sz="2000" dirty="0">
              <a:latin typeface="Arial" panose="020B0604020202020204" pitchFamily="34" charset="0"/>
              <a:cs typeface="Arial" panose="020B0604020202020204" pitchFamily="34" charset="0"/>
            </a:endParaRPr>
          </a:p>
          <a:p>
            <a:pPr marL="457200" indent="-4572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Đảm bảo sự đồng nhất giữa frontend ↔ backend</a:t>
            </a:r>
            <a:endParaRPr lang="en-US" sz="2000" dirty="0">
              <a:latin typeface="Arial" panose="020B0604020202020204" pitchFamily="34" charset="0"/>
              <a:cs typeface="Arial" panose="020B0604020202020204" pitchFamily="34" charset="0"/>
            </a:endParaRPr>
          </a:p>
          <a:p>
            <a:pPr marL="457200" indent="-4572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Tăng test coverage và giảm bugs production</a:t>
            </a:r>
            <a:endParaRPr lang="en-US" sz="2000" dirty="0">
              <a:latin typeface="Arial" panose="020B0604020202020204" pitchFamily="34" charset="0"/>
              <a:cs typeface="Arial" panose="020B0604020202020204" pitchFamily="34" charset="0"/>
            </a:endParaRPr>
          </a:p>
          <a:p>
            <a:pPr marL="457200" indent="-4572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Giảm downtime nhờ quy trình deploy tự động</a:t>
            </a:r>
            <a:endParaRPr lang="en-US" sz="2000" dirty="0">
              <a:latin typeface="Arial" panose="020B0604020202020204" pitchFamily="34" charset="0"/>
              <a:cs typeface="Arial" panose="020B0604020202020204" pitchFamily="34" charset="0"/>
            </a:endParaRPr>
          </a:p>
          <a:p>
            <a:pPr marL="457200" indent="-457200" algn="just">
              <a:lnSpc>
                <a:spcPct val="15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Chuẩn hóa quy trình phát triển theo hướng enterprise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0812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25738-E5A6-90BC-5B5D-BA1991BAC23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60C73FA-0FD1-07DA-9F0B-8F706310A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FC43AD4-2A02-C0E2-156F-2AB87DF9CAD9}"/>
              </a:ext>
            </a:extLst>
          </p:cNvPr>
          <p:cNvSpPr/>
          <p:nvPr/>
        </p:nvSpPr>
        <p:spPr>
          <a:xfrm>
            <a:off x="7377545" y="218210"/>
            <a:ext cx="4814455"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AE7BB6D-AEFE-AF05-59E9-9A07B89A890E}"/>
              </a:ext>
            </a:extLst>
          </p:cNvPr>
          <p:cNvSpPr txBox="1"/>
          <p:nvPr/>
        </p:nvSpPr>
        <p:spPr>
          <a:xfrm>
            <a:off x="7577570" y="410188"/>
            <a:ext cx="4694093" cy="646331"/>
          </a:xfrm>
          <a:prstGeom prst="rect">
            <a:avLst/>
          </a:prstGeom>
          <a:noFill/>
          <a:ln>
            <a:solidFill>
              <a:srgbClr val="252E3F"/>
            </a:solidFill>
          </a:ln>
        </p:spPr>
        <p:txBody>
          <a:bodyPr wrap="square">
            <a:spAutoFit/>
          </a:bodyPr>
          <a:lstStyle/>
          <a:p>
            <a:pPr>
              <a:buNone/>
            </a:pPr>
            <a:r>
              <a:rPr lang="en-US" sz="3600" b="1" dirty="0">
                <a:solidFill>
                  <a:srgbClr val="FEFFFF"/>
                </a:solidFill>
                <a:latin typeface="Arial" panose="020B0604020202020204" pitchFamily="34" charset="0"/>
                <a:cs typeface="Arial" panose="020B0604020202020204" pitchFamily="34" charset="0"/>
              </a:rPr>
              <a:t>Executive Summary</a:t>
            </a:r>
          </a:p>
        </p:txBody>
      </p:sp>
      <p:sp>
        <p:nvSpPr>
          <p:cNvPr id="5" name="TextBox 4">
            <a:extLst>
              <a:ext uri="{FF2B5EF4-FFF2-40B4-BE49-F238E27FC236}">
                <a16:creationId xmlns:a16="http://schemas.microsoft.com/office/drawing/2014/main" id="{948F3C4F-F43E-29AB-7824-3D8128DAB9D2}"/>
              </a:ext>
            </a:extLst>
          </p:cNvPr>
          <p:cNvSpPr txBox="1"/>
          <p:nvPr/>
        </p:nvSpPr>
        <p:spPr>
          <a:xfrm>
            <a:off x="267565" y="1440476"/>
            <a:ext cx="10798753" cy="2066656"/>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US" sz="2800" b="1" dirty="0">
                <a:solidFill>
                  <a:srgbClr val="00B050"/>
                </a:solidFill>
                <a:latin typeface="Arial" panose="020B0604020202020204" pitchFamily="34" charset="0"/>
                <a:cs typeface="Arial" panose="020B0604020202020204" pitchFamily="34" charset="0"/>
              </a:rPr>
              <a:t>Investment &amp; Timeline</a:t>
            </a:r>
          </a:p>
          <a:p>
            <a:pPr algn="just">
              <a:lnSpc>
                <a:spcPct val="150000"/>
              </a:lnSpc>
            </a:pPr>
            <a:r>
              <a:rPr lang="vi-VN" sz="2000" dirty="0">
                <a:latin typeface="Arial" panose="020B0604020202020204" pitchFamily="34" charset="0"/>
                <a:cs typeface="Arial" panose="020B0604020202020204" pitchFamily="34" charset="0"/>
              </a:rPr>
              <a:t>Thời gian triển khai: 1 tuần</a:t>
            </a:r>
            <a:endParaRPr lang="en-US" sz="2000" dirty="0">
              <a:latin typeface="Arial" panose="020B0604020202020204" pitchFamily="34" charset="0"/>
              <a:cs typeface="Arial" panose="020B0604020202020204" pitchFamily="34" charset="0"/>
            </a:endParaRPr>
          </a:p>
          <a:p>
            <a:pPr algn="just">
              <a:lnSpc>
                <a:spcPct val="150000"/>
              </a:lnSpc>
            </a:pPr>
            <a:r>
              <a:rPr lang="vi-VN" sz="2000" dirty="0">
                <a:latin typeface="Arial" panose="020B0604020202020204" pitchFamily="34" charset="0"/>
                <a:cs typeface="Arial" panose="020B0604020202020204" pitchFamily="34" charset="0"/>
              </a:rPr>
              <a:t>Chi phí hầu như bằng 0 do sử dụng AWS Free Tier</a:t>
            </a:r>
            <a:endParaRPr lang="en-US" sz="2000" dirty="0">
              <a:latin typeface="Arial" panose="020B0604020202020204" pitchFamily="34" charset="0"/>
              <a:cs typeface="Arial" panose="020B0604020202020204" pitchFamily="34" charset="0"/>
            </a:endParaRPr>
          </a:p>
          <a:p>
            <a:pPr algn="just">
              <a:lnSpc>
                <a:spcPct val="150000"/>
              </a:lnSpc>
            </a:pPr>
            <a:r>
              <a:rPr lang="vi-VN" sz="2000" dirty="0">
                <a:latin typeface="Arial" panose="020B0604020202020204" pitchFamily="34" charset="0"/>
                <a:cs typeface="Arial" panose="020B0604020202020204" pitchFamily="34" charset="0"/>
              </a:rPr>
              <a:t>Công cụ chính: OpenAPI, AWS Lambda, API Gateway, CodeBuild, CloudWatch, Redoc</a:t>
            </a:r>
            <a:endParaRPr lang="en-US" sz="2800" b="1" dirty="0">
              <a:solidFill>
                <a:schemeClr val="accent6"/>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79FA090-C912-D614-2CAA-8E81375B8DAD}"/>
              </a:ext>
            </a:extLst>
          </p:cNvPr>
          <p:cNvSpPr txBox="1"/>
          <p:nvPr/>
        </p:nvSpPr>
        <p:spPr>
          <a:xfrm>
            <a:off x="346796" y="3507132"/>
            <a:ext cx="8412740" cy="2989986"/>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US" sz="2800" b="1" dirty="0">
                <a:solidFill>
                  <a:srgbClr val="00B050"/>
                </a:solidFill>
                <a:latin typeface="Arial" panose="020B0604020202020204" pitchFamily="34" charset="0"/>
                <a:cs typeface="Arial" panose="020B0604020202020204" pitchFamily="34" charset="0"/>
              </a:rPr>
              <a:t>Success Criteria</a:t>
            </a:r>
          </a:p>
          <a:p>
            <a:pPr>
              <a:lnSpc>
                <a:spcPct val="150000"/>
              </a:lnSpc>
            </a:pPr>
            <a:r>
              <a:rPr lang="vi-VN" sz="2000" dirty="0">
                <a:latin typeface="Arial" panose="020B0604020202020204" pitchFamily="34" charset="0"/>
                <a:cs typeface="Arial" panose="020B0604020202020204" pitchFamily="34" charset="0"/>
              </a:rPr>
              <a:t>OpenAPI Spec đầy đủ </a:t>
            </a:r>
            <a:endParaRPr lang="en-US" sz="2000" dirty="0">
              <a:latin typeface="Arial" panose="020B0604020202020204" pitchFamily="34" charset="0"/>
              <a:cs typeface="Arial" panose="020B0604020202020204" pitchFamily="34" charset="0"/>
            </a:endParaRPr>
          </a:p>
          <a:p>
            <a:pPr>
              <a:lnSpc>
                <a:spcPct val="150000"/>
              </a:lnSpc>
            </a:pPr>
            <a:r>
              <a:rPr lang="vi-VN" sz="2000" dirty="0">
                <a:latin typeface="Arial" panose="020B0604020202020204" pitchFamily="34" charset="0"/>
                <a:cs typeface="Arial" panose="020B0604020202020204" pitchFamily="34" charset="0"/>
              </a:rPr>
              <a:t>Client &amp; Server codegen thành công </a:t>
            </a:r>
            <a:endParaRPr lang="en-US" sz="2000" dirty="0">
              <a:latin typeface="Arial" panose="020B0604020202020204" pitchFamily="34" charset="0"/>
              <a:cs typeface="Arial" panose="020B0604020202020204" pitchFamily="34" charset="0"/>
            </a:endParaRPr>
          </a:p>
          <a:p>
            <a:pPr>
              <a:lnSpc>
                <a:spcPct val="150000"/>
              </a:lnSpc>
            </a:pPr>
            <a:r>
              <a:rPr lang="vi-VN" sz="2000" dirty="0">
                <a:latin typeface="Arial" panose="020B0604020202020204" pitchFamily="34" charset="0"/>
                <a:cs typeface="Arial" panose="020B0604020202020204" pitchFamily="34" charset="0"/>
              </a:rPr>
              <a:t>Test coverage &gt; 80% </a:t>
            </a:r>
            <a:endParaRPr lang="en-US" sz="2000" dirty="0">
              <a:latin typeface="Arial" panose="020B0604020202020204" pitchFamily="34" charset="0"/>
              <a:cs typeface="Arial" panose="020B0604020202020204" pitchFamily="34" charset="0"/>
            </a:endParaRPr>
          </a:p>
          <a:p>
            <a:pPr>
              <a:lnSpc>
                <a:spcPct val="150000"/>
              </a:lnSpc>
            </a:pPr>
            <a:r>
              <a:rPr lang="vi-VN" sz="2000" dirty="0">
                <a:latin typeface="Arial" panose="020B0604020202020204" pitchFamily="34" charset="0"/>
                <a:cs typeface="Arial" panose="020B0604020202020204" pitchFamily="34" charset="0"/>
              </a:rPr>
              <a:t>CI/CD hoạt động ổn định </a:t>
            </a:r>
            <a:endParaRPr lang="en-US" sz="2000" dirty="0">
              <a:latin typeface="Arial" panose="020B0604020202020204" pitchFamily="34" charset="0"/>
              <a:cs typeface="Arial" panose="020B0604020202020204" pitchFamily="34" charset="0"/>
            </a:endParaRPr>
          </a:p>
          <a:p>
            <a:pPr>
              <a:lnSpc>
                <a:spcPct val="150000"/>
              </a:lnSpc>
            </a:pPr>
            <a:r>
              <a:rPr lang="vi-VN" sz="2000" dirty="0">
                <a:latin typeface="Arial" panose="020B0604020202020204" pitchFamily="34" charset="0"/>
                <a:cs typeface="Arial" panose="020B0604020202020204" pitchFamily="34" charset="0"/>
              </a:rPr>
              <a:t>Monitoring đầy đủ (logs, X-Ray, alarms)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985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86503-5909-4CAD-6DEC-4E93A9FF829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F38E619-E041-6C47-D116-97D332FE6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C2FC943-0A60-61BF-FD25-007099BAE058}"/>
              </a:ext>
            </a:extLst>
          </p:cNvPr>
          <p:cNvSpPr/>
          <p:nvPr/>
        </p:nvSpPr>
        <p:spPr>
          <a:xfrm>
            <a:off x="7377545" y="218210"/>
            <a:ext cx="4814455"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6996A76-A04B-6A43-65A6-1C754434842B}"/>
              </a:ext>
            </a:extLst>
          </p:cNvPr>
          <p:cNvSpPr txBox="1"/>
          <p:nvPr/>
        </p:nvSpPr>
        <p:spPr>
          <a:xfrm>
            <a:off x="7577570" y="410188"/>
            <a:ext cx="4694093" cy="646331"/>
          </a:xfrm>
          <a:prstGeom prst="rect">
            <a:avLst/>
          </a:prstGeom>
          <a:noFill/>
          <a:ln>
            <a:solidFill>
              <a:srgbClr val="252E3F"/>
            </a:solidFill>
          </a:ln>
        </p:spPr>
        <p:txBody>
          <a:bodyPr wrap="square">
            <a:spAutoFit/>
          </a:bodyPr>
          <a:lstStyle/>
          <a:p>
            <a:pPr algn="just">
              <a:buNone/>
            </a:pPr>
            <a:r>
              <a:rPr lang="en-US" sz="3600" b="1" dirty="0">
                <a:solidFill>
                  <a:schemeClr val="bg1"/>
                </a:solidFill>
                <a:latin typeface="Arial" panose="020B0604020202020204" pitchFamily="34" charset="0"/>
                <a:cs typeface="Arial" panose="020B0604020202020204" pitchFamily="34" charset="0"/>
              </a:rPr>
              <a:t>Problem Statement</a:t>
            </a:r>
          </a:p>
        </p:txBody>
      </p:sp>
      <p:sp>
        <p:nvSpPr>
          <p:cNvPr id="6" name="TextBox 5">
            <a:extLst>
              <a:ext uri="{FF2B5EF4-FFF2-40B4-BE49-F238E27FC236}">
                <a16:creationId xmlns:a16="http://schemas.microsoft.com/office/drawing/2014/main" id="{7CC457A7-44C5-10CE-066A-8781B7923197}"/>
              </a:ext>
            </a:extLst>
          </p:cNvPr>
          <p:cNvSpPr txBox="1"/>
          <p:nvPr/>
        </p:nvSpPr>
        <p:spPr>
          <a:xfrm>
            <a:off x="267565" y="1440476"/>
            <a:ext cx="9385590" cy="1951496"/>
          </a:xfrm>
          <a:prstGeom prst="rect">
            <a:avLst/>
          </a:prstGeom>
          <a:noFill/>
        </p:spPr>
        <p:txBody>
          <a:bodyPr wrap="square">
            <a:spAutoFit/>
          </a:bodyPr>
          <a:lstStyle/>
          <a:p>
            <a:pPr algn="just">
              <a:lnSpc>
                <a:spcPct val="150000"/>
              </a:lnSpc>
            </a:pPr>
            <a:r>
              <a:rPr lang="en-US" sz="2800" b="1" dirty="0" err="1">
                <a:solidFill>
                  <a:schemeClr val="accent1"/>
                </a:solidFill>
                <a:latin typeface="Arial" panose="020B0604020202020204" pitchFamily="34" charset="0"/>
                <a:cs typeface="Arial" panose="020B0604020202020204" pitchFamily="34" charset="0"/>
              </a:rPr>
              <a:t>Tình</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hình</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hiện</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tại</a:t>
            </a:r>
            <a:r>
              <a:rPr lang="en-US" sz="2800" b="1" dirty="0">
                <a:solidFill>
                  <a:schemeClr val="accent1"/>
                </a:solidFill>
                <a:latin typeface="Arial" panose="020B0604020202020204" pitchFamily="34" charset="0"/>
                <a:cs typeface="Arial" panose="020B0604020202020204" pitchFamily="34" charset="0"/>
              </a:rPr>
              <a:t>:</a:t>
            </a:r>
          </a:p>
          <a:p>
            <a:pPr algn="just">
              <a:lnSpc>
                <a:spcPct val="150000"/>
              </a:lnSpc>
            </a:pP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Viết</a:t>
            </a:r>
            <a:r>
              <a:rPr lang="en-US" sz="2800" dirty="0">
                <a:latin typeface="Arial" panose="020B0604020202020204" pitchFamily="34" charset="0"/>
                <a:cs typeface="Arial" panose="020B0604020202020204" pitchFamily="34" charset="0"/>
              </a:rPr>
              <a:t> API </a:t>
            </a:r>
            <a:r>
              <a:rPr lang="en-US" sz="2800" dirty="0" err="1">
                <a:latin typeface="Arial" panose="020B0604020202020204" pitchFamily="34" charset="0"/>
                <a:cs typeface="Arial" panose="020B0604020202020204" pitchFamily="34" charset="0"/>
              </a:rPr>
              <a:t>thủ</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công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dễ</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sai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lệch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giữa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các</a:t>
            </a:r>
            <a:r>
              <a:rPr lang="en-US" sz="2800" dirty="0">
                <a:latin typeface="Arial" panose="020B0604020202020204" pitchFamily="34" charset="0"/>
                <a:cs typeface="Arial" panose="020B0604020202020204" pitchFamily="34" charset="0"/>
              </a:rPr>
              <a:t> team (dev, test) </a:t>
            </a:r>
          </a:p>
          <a:p>
            <a:pPr algn="just">
              <a:lnSpc>
                <a:spcPct val="150000"/>
              </a:lnSpc>
            </a:pP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Thiếu</a:t>
            </a:r>
            <a:r>
              <a:rPr lang="en-US" sz="2800" dirty="0">
                <a:latin typeface="Arial" panose="020B0604020202020204" pitchFamily="34" charset="0"/>
                <a:cs typeface="Arial" panose="020B0604020202020204" pitchFamily="34" charset="0"/>
              </a:rPr>
              <a:t> test, </a:t>
            </a:r>
            <a:r>
              <a:rPr lang="en-US" sz="2800" dirty="0" err="1">
                <a:latin typeface="Arial" panose="020B0604020202020204" pitchFamily="34" charset="0"/>
                <a:cs typeface="Arial" panose="020B0604020202020204" pitchFamily="34" charset="0"/>
              </a:rPr>
              <a:t>thiếu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tài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liệu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dẫn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đến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việc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dễ</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lỗi</a:t>
            </a:r>
            <a:endParaRPr lang="en-US" sz="28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BF1152A-7861-C8B0-7DFD-9B33B9CD292A}"/>
              </a:ext>
            </a:extLst>
          </p:cNvPr>
          <p:cNvSpPr txBox="1"/>
          <p:nvPr/>
        </p:nvSpPr>
        <p:spPr>
          <a:xfrm>
            <a:off x="267565" y="3920439"/>
            <a:ext cx="9385590" cy="1951496"/>
          </a:xfrm>
          <a:prstGeom prst="rect">
            <a:avLst/>
          </a:prstGeom>
          <a:noFill/>
        </p:spPr>
        <p:txBody>
          <a:bodyPr wrap="square">
            <a:spAutoFit/>
          </a:bodyPr>
          <a:lstStyle/>
          <a:p>
            <a:pPr algn="just">
              <a:lnSpc>
                <a:spcPct val="150000"/>
              </a:lnSpc>
            </a:pPr>
            <a:r>
              <a:rPr lang="en-US" sz="2800" b="1" dirty="0" err="1">
                <a:solidFill>
                  <a:schemeClr val="accent1"/>
                </a:solidFill>
                <a:latin typeface="Arial" panose="020B0604020202020204" pitchFamily="34" charset="0"/>
                <a:cs typeface="Arial" panose="020B0604020202020204" pitchFamily="34" charset="0"/>
              </a:rPr>
              <a:t>Điểm</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mấu</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chốt</a:t>
            </a:r>
            <a:r>
              <a:rPr lang="en-US" sz="2800" b="1" dirty="0">
                <a:solidFill>
                  <a:schemeClr val="accent1"/>
                </a:solidFill>
                <a:latin typeface="Arial" panose="020B0604020202020204" pitchFamily="34" charset="0"/>
                <a:cs typeface="Arial" panose="020B0604020202020204" pitchFamily="34" charset="0"/>
              </a:rPr>
              <a:t>:</a:t>
            </a:r>
          </a:p>
          <a:p>
            <a:pPr algn="just">
              <a:lnSpc>
                <a:spcPct val="150000"/>
              </a:lnSpc>
            </a:pP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Tốn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thời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gian</a:t>
            </a:r>
            <a:r>
              <a:rPr lang="en-US" sz="2800" dirty="0">
                <a:latin typeface="Arial" panose="020B0604020202020204" pitchFamily="34" charset="0"/>
                <a:cs typeface="Arial" panose="020B0604020202020204" pitchFamily="34" charset="0"/>
              </a:rPr>
              <a:t> fix API </a:t>
            </a:r>
            <a:r>
              <a:rPr lang="en-US" sz="2800" dirty="0" err="1">
                <a:latin typeface="Arial" panose="020B0604020202020204" pitchFamily="34" charset="0"/>
                <a:cs typeface="Arial" panose="020B0604020202020204" pitchFamily="34" charset="0"/>
              </a:rPr>
              <a:t>khi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có</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lỗi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xảy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ra</a:t>
            </a:r>
            <a:endParaRPr lang="en-US" sz="2800" dirty="0">
              <a:latin typeface="Arial" panose="020B0604020202020204" pitchFamily="34" charset="0"/>
              <a:cs typeface="Arial" panose="020B0604020202020204" pitchFamily="34" charset="0"/>
            </a:endParaRPr>
          </a:p>
          <a:p>
            <a:pPr algn="just">
              <a:lnSpc>
                <a:spcPct val="150000"/>
              </a:lnSpc>
            </a:pP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Khó</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tích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hợp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với</a:t>
            </a:r>
            <a:r>
              <a:rPr lang="en-US" sz="2800" dirty="0">
                <a:latin typeface="Arial" panose="020B0604020202020204" pitchFamily="34" charset="0"/>
                <a:cs typeface="Arial" panose="020B0604020202020204" pitchFamily="34" charset="0"/>
              </a:rPr>
              <a:t> frontend/</a:t>
            </a:r>
            <a:r>
              <a:rPr lang="en-US" sz="2800" dirty="0" err="1">
                <a:latin typeface="Arial" panose="020B0604020202020204" pitchFamily="34" charset="0"/>
                <a:cs typeface="Arial" panose="020B0604020202020204" pitchFamily="34" charset="0"/>
              </a:rPr>
              <a:t>khách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hàng</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020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F4890-8A6B-DA19-1D26-7649663FC75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43B8CFFC-4207-3945-A6E8-4BED4FFEF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312E4FB-85C0-5909-CB5E-F3CC7335008E}"/>
              </a:ext>
            </a:extLst>
          </p:cNvPr>
          <p:cNvSpPr/>
          <p:nvPr/>
        </p:nvSpPr>
        <p:spPr>
          <a:xfrm>
            <a:off x="7377545" y="218210"/>
            <a:ext cx="4814455"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E65476D-0C90-9756-09A4-BCB3D8633077}"/>
              </a:ext>
            </a:extLst>
          </p:cNvPr>
          <p:cNvSpPr txBox="1"/>
          <p:nvPr/>
        </p:nvSpPr>
        <p:spPr>
          <a:xfrm>
            <a:off x="7577570" y="410188"/>
            <a:ext cx="4694093" cy="646331"/>
          </a:xfrm>
          <a:prstGeom prst="rect">
            <a:avLst/>
          </a:prstGeom>
          <a:noFill/>
          <a:ln>
            <a:solidFill>
              <a:srgbClr val="252E3F"/>
            </a:solidFill>
          </a:ln>
        </p:spPr>
        <p:txBody>
          <a:bodyPr wrap="square">
            <a:spAutoFit/>
          </a:bodyPr>
          <a:lstStyle/>
          <a:p>
            <a:pPr algn="just">
              <a:buNone/>
            </a:pPr>
            <a:r>
              <a:rPr lang="en-US" sz="3600" b="1" dirty="0">
                <a:solidFill>
                  <a:schemeClr val="bg1"/>
                </a:solidFill>
                <a:latin typeface="Arial" panose="020B0604020202020204" pitchFamily="34" charset="0"/>
                <a:cs typeface="Arial" panose="020B0604020202020204" pitchFamily="34" charset="0"/>
              </a:rPr>
              <a:t>Problem Statement</a:t>
            </a:r>
          </a:p>
        </p:txBody>
      </p:sp>
      <p:sp>
        <p:nvSpPr>
          <p:cNvPr id="4" name="TextBox 3">
            <a:extLst>
              <a:ext uri="{FF2B5EF4-FFF2-40B4-BE49-F238E27FC236}">
                <a16:creationId xmlns:a16="http://schemas.microsoft.com/office/drawing/2014/main" id="{59106B48-FDA9-3E8C-EFDC-245E5FC7AE65}"/>
              </a:ext>
            </a:extLst>
          </p:cNvPr>
          <p:cNvSpPr txBox="1"/>
          <p:nvPr/>
        </p:nvSpPr>
        <p:spPr>
          <a:xfrm>
            <a:off x="693592" y="2749730"/>
            <a:ext cx="4121152" cy="2597827"/>
          </a:xfrm>
          <a:prstGeom prst="rect">
            <a:avLst/>
          </a:prstGeom>
          <a:noFill/>
        </p:spPr>
        <p:txBody>
          <a:bodyPr wrap="square">
            <a:spAutoFit/>
          </a:bodyPr>
          <a:lstStyle/>
          <a:p>
            <a:pPr algn="just">
              <a:lnSpc>
                <a:spcPct val="150000"/>
              </a:lnSpc>
            </a:pPr>
            <a:r>
              <a:rPr lang="en-US" sz="2800" b="1" dirty="0">
                <a:solidFill>
                  <a:schemeClr val="accent1"/>
                </a:solidFill>
                <a:latin typeface="Arial" panose="020B0604020202020204" pitchFamily="34" charset="0"/>
                <a:cs typeface="Arial" panose="020B0604020202020204" pitchFamily="34" charset="0"/>
              </a:rPr>
              <a:t>Các </a:t>
            </a:r>
            <a:r>
              <a:rPr lang="en-US" sz="2800" b="1" dirty="0" err="1">
                <a:solidFill>
                  <a:schemeClr val="accent1"/>
                </a:solidFill>
                <a:latin typeface="Arial" panose="020B0604020202020204" pitchFamily="34" charset="0"/>
                <a:cs typeface="Arial" panose="020B0604020202020204" pitchFamily="34" charset="0"/>
              </a:rPr>
              <a:t>bên</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liên</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quan</a:t>
            </a:r>
            <a:r>
              <a:rPr lang="en-US" sz="2800" b="1" dirty="0">
                <a:solidFill>
                  <a:schemeClr val="accent1"/>
                </a:solidFill>
                <a:latin typeface="Arial" panose="020B0604020202020204" pitchFamily="34" charset="0"/>
                <a:cs typeface="Arial" panose="020B0604020202020204" pitchFamily="34" charset="0"/>
              </a:rPr>
              <a:t>:</a:t>
            </a:r>
          </a:p>
          <a:p>
            <a:pPr marL="457200" indent="-457200" algn="just">
              <a:lnSpc>
                <a:spcPct val="150000"/>
              </a:lnSpc>
              <a:buFontTx/>
              <a:buChar char="-"/>
            </a:pPr>
            <a:r>
              <a:rPr lang="en-US" sz="2800" dirty="0">
                <a:latin typeface="Arial" panose="020B0604020202020204" pitchFamily="34" charset="0"/>
                <a:cs typeface="Arial" panose="020B0604020202020204" pitchFamily="34" charset="0"/>
              </a:rPr>
              <a:t>Dev Team</a:t>
            </a:r>
          </a:p>
          <a:p>
            <a:pPr marL="457200" indent="-457200" algn="just">
              <a:lnSpc>
                <a:spcPct val="150000"/>
              </a:lnSpc>
              <a:buFontTx/>
              <a:buChar char="-"/>
            </a:pPr>
            <a:r>
              <a:rPr lang="en-US" sz="2800" dirty="0">
                <a:latin typeface="Arial" panose="020B0604020202020204" pitchFamily="34" charset="0"/>
                <a:cs typeface="Arial" panose="020B0604020202020204" pitchFamily="34" charset="0"/>
              </a:rPr>
              <a:t>Tester</a:t>
            </a:r>
          </a:p>
          <a:p>
            <a:pPr marL="457200" indent="-457200" algn="just">
              <a:lnSpc>
                <a:spcPct val="150000"/>
              </a:lnSpc>
              <a:buFontTx/>
              <a:buChar char="-"/>
            </a:pPr>
            <a:r>
              <a:rPr lang="en-US" sz="2800" dirty="0">
                <a:latin typeface="Arial" panose="020B0604020202020204" pitchFamily="34" charset="0"/>
                <a:cs typeface="Arial" panose="020B0604020202020204" pitchFamily="34" charset="0"/>
              </a:rPr>
              <a:t>Product Owner</a:t>
            </a:r>
          </a:p>
        </p:txBody>
      </p:sp>
      <p:sp>
        <p:nvSpPr>
          <p:cNvPr id="5" name="TextBox 4">
            <a:extLst>
              <a:ext uri="{FF2B5EF4-FFF2-40B4-BE49-F238E27FC236}">
                <a16:creationId xmlns:a16="http://schemas.microsoft.com/office/drawing/2014/main" id="{5D4E454A-3753-722F-E1B2-86D9FED4C973}"/>
              </a:ext>
            </a:extLst>
          </p:cNvPr>
          <p:cNvSpPr txBox="1"/>
          <p:nvPr/>
        </p:nvSpPr>
        <p:spPr>
          <a:xfrm>
            <a:off x="5554808" y="2749730"/>
            <a:ext cx="5943600" cy="2597827"/>
          </a:xfrm>
          <a:prstGeom prst="rect">
            <a:avLst/>
          </a:prstGeom>
          <a:noFill/>
        </p:spPr>
        <p:txBody>
          <a:bodyPr wrap="square">
            <a:spAutoFit/>
          </a:bodyPr>
          <a:lstStyle/>
          <a:p>
            <a:pPr algn="just">
              <a:lnSpc>
                <a:spcPct val="150000"/>
              </a:lnSpc>
            </a:pPr>
            <a:r>
              <a:rPr lang="en-US" sz="2800" b="1" dirty="0">
                <a:solidFill>
                  <a:schemeClr val="accent1"/>
                </a:solidFill>
                <a:latin typeface="Arial" panose="020B0604020202020204" pitchFamily="34" charset="0"/>
                <a:cs typeface="Arial" panose="020B0604020202020204" pitchFamily="34" charset="0"/>
              </a:rPr>
              <a:t>Hậu </a:t>
            </a:r>
            <a:r>
              <a:rPr lang="en-US" sz="2800" b="1" dirty="0" err="1">
                <a:solidFill>
                  <a:schemeClr val="accent1"/>
                </a:solidFill>
                <a:latin typeface="Arial" panose="020B0604020202020204" pitchFamily="34" charset="0"/>
                <a:cs typeface="Arial" panose="020B0604020202020204" pitchFamily="34" charset="0"/>
              </a:rPr>
              <a:t>quả</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cho</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doanh</a:t>
            </a:r>
            <a:r>
              <a:rPr lang="en-US" sz="2800" b="1" dirty="0">
                <a:solidFill>
                  <a:schemeClr val="accent1"/>
                </a:solidFill>
                <a:latin typeface="Arial" panose="020B0604020202020204" pitchFamily="34" charset="0"/>
                <a:cs typeface="Arial" panose="020B0604020202020204" pitchFamily="34" charset="0"/>
              </a:rPr>
              <a:t> </a:t>
            </a:r>
            <a:r>
              <a:rPr lang="en-US" sz="2800" b="1" dirty="0" err="1">
                <a:solidFill>
                  <a:schemeClr val="accent1"/>
                </a:solidFill>
                <a:latin typeface="Arial" panose="020B0604020202020204" pitchFamily="34" charset="0"/>
                <a:cs typeface="Arial" panose="020B0604020202020204" pitchFamily="34" charset="0"/>
              </a:rPr>
              <a:t>nghiệp</a:t>
            </a:r>
            <a:r>
              <a:rPr lang="en-US" sz="2800" b="1" dirty="0">
                <a:solidFill>
                  <a:schemeClr val="accent1"/>
                </a:solidFill>
                <a:latin typeface="Arial" panose="020B0604020202020204" pitchFamily="34" charset="0"/>
                <a:cs typeface="Arial" panose="020B0604020202020204" pitchFamily="34" charset="0"/>
              </a:rPr>
              <a:t>:</a:t>
            </a:r>
          </a:p>
          <a:p>
            <a:pPr marL="457200" indent="-457200" algn="just">
              <a:lnSpc>
                <a:spcPct val="150000"/>
              </a:lnSpc>
              <a:buFontTx/>
              <a:buChar char="-"/>
            </a:pPr>
            <a:r>
              <a:rPr lang="en-US" sz="2800" dirty="0" err="1">
                <a:latin typeface="Arial" panose="020B0604020202020204" pitchFamily="34" charset="0"/>
                <a:cs typeface="Arial" panose="020B0604020202020204" pitchFamily="34" charset="0"/>
              </a:rPr>
              <a:t>Tăng</a:t>
            </a:r>
            <a:r>
              <a:rPr lang="en-US" sz="2800" dirty="0">
                <a:latin typeface="Arial" panose="020B0604020202020204" pitchFamily="34" charset="0"/>
                <a:cs typeface="Arial" panose="020B0604020202020204" pitchFamily="34" charset="0"/>
              </a:rPr>
              <a:t> chi </a:t>
            </a:r>
            <a:r>
              <a:rPr lang="en-US" sz="2800" dirty="0" err="1">
                <a:latin typeface="Arial" panose="020B0604020202020204" pitchFamily="34" charset="0"/>
                <a:cs typeface="Arial" panose="020B0604020202020204" pitchFamily="34" charset="0"/>
              </a:rPr>
              <a:t>phí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triển</a:t>
            </a:r>
            <a:r>
              <a:rPr lang="en-US" sz="2800" dirty="0">
                <a:latin typeface="Arial" panose="020B0604020202020204" pitchFamily="34" charset="0"/>
                <a:cs typeface="Arial" panose="020B0604020202020204" pitchFamily="34" charset="0"/>
              </a:rPr>
              <a:t> </a:t>
            </a:r>
          </a:p>
          <a:p>
            <a:pPr marL="457200" indent="-457200" algn="just">
              <a:lnSpc>
                <a:spcPct val="150000"/>
              </a:lnSpc>
              <a:buFontTx/>
              <a:buChar char="-"/>
            </a:pPr>
            <a:r>
              <a:rPr lang="en-US" sz="2800" dirty="0" err="1">
                <a:latin typeface="Arial" panose="020B0604020202020204" pitchFamily="34" charset="0"/>
                <a:cs typeface="Arial" panose="020B0604020202020204" pitchFamily="34" charset="0"/>
              </a:rPr>
              <a:t>Kéo</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thời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gian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hoàn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thành</a:t>
            </a:r>
            <a:endParaRPr lang="en-US" sz="2800" dirty="0">
              <a:latin typeface="Arial" panose="020B0604020202020204" pitchFamily="34" charset="0"/>
              <a:cs typeface="Arial" panose="020B0604020202020204" pitchFamily="34" charset="0"/>
            </a:endParaRPr>
          </a:p>
          <a:p>
            <a:pPr marL="457200" indent="-457200" algn="just">
              <a:lnSpc>
                <a:spcPct val="150000"/>
              </a:lnSpc>
              <a:buFontTx/>
              <a:buChar char="-"/>
            </a:pPr>
            <a:r>
              <a:rPr lang="en-US" sz="2800" dirty="0" err="1">
                <a:latin typeface="Arial" panose="020B0604020202020204" pitchFamily="34" charset="0"/>
                <a:cs typeface="Arial" panose="020B0604020202020204" pitchFamily="34" charset="0"/>
              </a:rPr>
              <a:t>Giảm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độ</a:t>
            </a:r>
            <a:r>
              <a:rPr lang="en-US" sz="2800" dirty="0">
                <a:latin typeface="Arial" panose="020B0604020202020204" pitchFamily="34" charset="0"/>
                <a:cs typeface="Arial" panose="020B0604020202020204" pitchFamily="34" charset="0"/>
              </a:rPr>
              <a:t> tin </a:t>
            </a:r>
            <a:r>
              <a:rPr lang="en-US" sz="2800" dirty="0" err="1">
                <a:latin typeface="Arial" panose="020B0604020202020204" pitchFamily="34" charset="0"/>
                <a:cs typeface="Arial" panose="020B0604020202020204" pitchFamily="34" charset="0"/>
              </a:rPr>
              <a:t>cậy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sản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phẩm</a:t>
            </a:r>
            <a:r>
              <a:rPr 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17111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6242D-E3B4-C294-DED7-F3CB750DED1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0978F9B-9C3C-7431-D92B-C68153F2B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A7A1D86-FA86-FFBC-BF06-53212C073FB4}"/>
              </a:ext>
            </a:extLst>
          </p:cNvPr>
          <p:cNvSpPr/>
          <p:nvPr/>
        </p:nvSpPr>
        <p:spPr>
          <a:xfrm>
            <a:off x="7183583" y="218210"/>
            <a:ext cx="5008418"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1FA5229-5A48-0D46-A390-946180B34BBB}"/>
              </a:ext>
            </a:extLst>
          </p:cNvPr>
          <p:cNvSpPr txBox="1"/>
          <p:nvPr/>
        </p:nvSpPr>
        <p:spPr>
          <a:xfrm>
            <a:off x="7346373" y="410188"/>
            <a:ext cx="5153892"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Solution Architecture</a:t>
            </a:r>
          </a:p>
        </p:txBody>
      </p:sp>
      <p:sp>
        <p:nvSpPr>
          <p:cNvPr id="4" name="TextBox 3">
            <a:extLst>
              <a:ext uri="{FF2B5EF4-FFF2-40B4-BE49-F238E27FC236}">
                <a16:creationId xmlns:a16="http://schemas.microsoft.com/office/drawing/2014/main" id="{C88B284E-5883-9412-578E-1D45556A077C}"/>
              </a:ext>
            </a:extLst>
          </p:cNvPr>
          <p:cNvSpPr txBox="1"/>
          <p:nvPr/>
        </p:nvSpPr>
        <p:spPr>
          <a:xfrm>
            <a:off x="301336" y="1382969"/>
            <a:ext cx="2339102" cy="369332"/>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Kiến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trúc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giải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pháp</a:t>
            </a:r>
            <a:r>
              <a:rPr lang="en-US" b="1" dirty="0">
                <a:latin typeface="Arial" panose="020B0604020202020204" pitchFamily="34" charset="0"/>
                <a:cs typeface="Arial" panose="020B0604020202020204" pitchFamily="34" charset="0"/>
              </a:rPr>
              <a:t>:</a:t>
            </a:r>
          </a:p>
        </p:txBody>
      </p:sp>
      <p:pic>
        <p:nvPicPr>
          <p:cNvPr id="6" name="Picture 5" descr="A screenshot of a computer&#10;&#10;AI-generated content may be incorrect.">
            <a:extLst>
              <a:ext uri="{FF2B5EF4-FFF2-40B4-BE49-F238E27FC236}">
                <a16:creationId xmlns:a16="http://schemas.microsoft.com/office/drawing/2014/main" id="{14FF027E-B2A6-9E27-E435-767F931E2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373" y="1382969"/>
            <a:ext cx="11107882" cy="5256821"/>
          </a:xfrm>
          <a:prstGeom prst="rect">
            <a:avLst/>
          </a:prstGeom>
        </p:spPr>
      </p:pic>
    </p:spTree>
    <p:extLst>
      <p:ext uri="{BB962C8B-B14F-4D97-AF65-F5344CB8AC3E}">
        <p14:creationId xmlns:p14="http://schemas.microsoft.com/office/powerpoint/2010/main" val="161103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C396-F9D8-8950-3580-07B5F72811E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92FF9C9-281E-08C5-A3D3-F8C3A8DA2E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DA748EF-086A-56A8-FE60-1171E78E7446}"/>
              </a:ext>
            </a:extLst>
          </p:cNvPr>
          <p:cNvSpPr txBox="1"/>
          <p:nvPr/>
        </p:nvSpPr>
        <p:spPr>
          <a:xfrm>
            <a:off x="1435677" y="1597930"/>
            <a:ext cx="9320646" cy="4548168"/>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Thành </a:t>
            </a:r>
            <a:r>
              <a:rPr lang="en-US" sz="2800" b="1" dirty="0" err="1">
                <a:solidFill>
                  <a:srgbClr val="0070C0"/>
                </a:solidFill>
                <a:latin typeface="Arial" panose="020B0604020202020204" pitchFamily="34" charset="0"/>
                <a:cs typeface="Arial" panose="020B0604020202020204" pitchFamily="34" charset="0"/>
              </a:rPr>
              <a:t>phần</a:t>
            </a:r>
            <a:r>
              <a:rPr lang="en-US" sz="2800" b="1" dirty="0">
                <a:solidFill>
                  <a:srgbClr val="0070C0"/>
                </a:solidFill>
                <a:latin typeface="Arial" panose="020B0604020202020204" pitchFamily="34" charset="0"/>
                <a:cs typeface="Arial" panose="020B0604020202020204" pitchFamily="34" charset="0"/>
              </a:rPr>
              <a:t>:</a:t>
            </a:r>
          </a:p>
          <a:p>
            <a:pPr marL="342900" indent="-342900">
              <a:lnSpc>
                <a:spcPct val="150000"/>
              </a:lnSpc>
              <a:buFont typeface="Wingdings" panose="05000000000000000000" pitchFamily="2" charset="2"/>
              <a:buChar char="§"/>
            </a:pPr>
            <a:r>
              <a:rPr lang="en-US" sz="2400" dirty="0">
                <a:latin typeface="Arial" panose="020B0604020202020204" pitchFamily="34" charset="0"/>
                <a:cs typeface="Arial" panose="020B0604020202020204" pitchFamily="34" charset="0"/>
              </a:rPr>
              <a:t>OpenAPI Spec: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nghĩa</a:t>
            </a:r>
            <a:r>
              <a:rPr lang="en-US" sz="2400" dirty="0">
                <a:latin typeface="Arial" panose="020B0604020202020204" pitchFamily="34" charset="0"/>
                <a:cs typeface="Arial" panose="020B0604020202020204" pitchFamily="34" charset="0"/>
              </a:rPr>
              <a:t> API</a:t>
            </a: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Github</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lưu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trữ</a:t>
            </a:r>
            <a:r>
              <a:rPr lang="en-US" sz="2400" dirty="0">
                <a:latin typeface="Arial" panose="020B0604020202020204" pitchFamily="34" charset="0"/>
                <a:cs typeface="Arial" panose="020B0604020202020204" pitchFamily="34" charset="0"/>
              </a:rPr>
              <a:t> code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local</a:t>
            </a:r>
          </a:p>
          <a:p>
            <a:pPr marL="342900" indent="-342900">
              <a:lnSpc>
                <a:spcPct val="150000"/>
              </a:lnSpc>
              <a:buFont typeface="Wingdings" panose="05000000000000000000" pitchFamily="2" charset="2"/>
              <a:buChar char="§"/>
            </a:pPr>
            <a:r>
              <a:rPr lang="en-US" sz="2400" dirty="0">
                <a:latin typeface="Arial" panose="020B0604020202020204" pitchFamily="34" charset="0"/>
                <a:cs typeface="Arial" panose="020B0604020202020204" pitchFamily="34" charset="0"/>
              </a:rPr>
              <a:t>AWS API Gateway: routing request</a:t>
            </a:r>
          </a:p>
          <a:p>
            <a:pPr marL="342900" indent="-342900">
              <a:lnSpc>
                <a:spcPct val="150000"/>
              </a:lnSpc>
              <a:buFont typeface="Wingdings" panose="05000000000000000000" pitchFamily="2" charset="2"/>
              <a:buChar char="§"/>
            </a:pPr>
            <a:r>
              <a:rPr lang="en-US" sz="2400" dirty="0">
                <a:latin typeface="Arial" panose="020B0604020202020204" pitchFamily="34" charset="0"/>
                <a:cs typeface="Arial" panose="020B0604020202020204" pitchFamily="34" charset="0"/>
              </a:rPr>
              <a:t>AWS Lambda: </a:t>
            </a:r>
            <a:r>
              <a:rPr lang="en-US" sz="2400" dirty="0" err="1">
                <a:latin typeface="Arial" panose="020B0604020202020204" pitchFamily="34" charset="0"/>
                <a:cs typeface="Arial" panose="020B0604020202020204" pitchFamily="34" charset="0"/>
              </a:rPr>
              <a:t>xử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nghiệp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vụ</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a:latin typeface="Arial" panose="020B0604020202020204" pitchFamily="34" charset="0"/>
                <a:cs typeface="Arial" panose="020B0604020202020204" pitchFamily="34" charset="0"/>
              </a:rPr>
              <a:t>DynamoDB + S3: </a:t>
            </a:r>
            <a:r>
              <a:rPr lang="en-US" sz="2400" dirty="0" err="1">
                <a:latin typeface="Arial" panose="020B0604020202020204" pitchFamily="34" charset="0"/>
                <a:cs typeface="Arial" panose="020B0604020202020204" pitchFamily="34" charset="0"/>
              </a:rPr>
              <a:t>lưu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trữ</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dữ</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liệu</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CodeBuild</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thử</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CodePipeline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endParaRPr lang="en-US" sz="24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12D30F14-A24B-0280-049B-459E84538135}"/>
              </a:ext>
            </a:extLst>
          </p:cNvPr>
          <p:cNvSpPr/>
          <p:nvPr/>
        </p:nvSpPr>
        <p:spPr>
          <a:xfrm>
            <a:off x="7183583" y="218210"/>
            <a:ext cx="5008418"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456F7E5-7CE2-2187-A98F-DDDE62ADC21B}"/>
              </a:ext>
            </a:extLst>
          </p:cNvPr>
          <p:cNvSpPr txBox="1"/>
          <p:nvPr/>
        </p:nvSpPr>
        <p:spPr>
          <a:xfrm>
            <a:off x="7346373" y="410188"/>
            <a:ext cx="5153892"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Solution Architecture</a:t>
            </a:r>
          </a:p>
        </p:txBody>
      </p:sp>
    </p:spTree>
    <p:extLst>
      <p:ext uri="{BB962C8B-B14F-4D97-AF65-F5344CB8AC3E}">
        <p14:creationId xmlns:p14="http://schemas.microsoft.com/office/powerpoint/2010/main" val="307062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22B0-5BB0-8CDE-B046-1E6E2719165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4BA80A6-63EE-6686-BDF1-FCC19214A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08F1EE1-E2BB-3143-28B9-8062FB0D89A9}"/>
              </a:ext>
            </a:extLst>
          </p:cNvPr>
          <p:cNvSpPr txBox="1"/>
          <p:nvPr/>
        </p:nvSpPr>
        <p:spPr>
          <a:xfrm>
            <a:off x="39833" y="1918458"/>
            <a:ext cx="12152167" cy="3994170"/>
          </a:xfrm>
          <a:prstGeom prst="rect">
            <a:avLst/>
          </a:prstGeom>
          <a:noFill/>
        </p:spPr>
        <p:txBody>
          <a:bodyPr wrap="square">
            <a:spAutoFit/>
          </a:bodyPr>
          <a:lstStyle/>
          <a:p>
            <a:pPr marL="457200" indent="-457200" algn="just">
              <a:lnSpc>
                <a:spcPct val="150000"/>
              </a:lnSpc>
              <a:buFont typeface="Wingdings" panose="05000000000000000000" pitchFamily="2" charset="2"/>
              <a:buChar char="q"/>
            </a:pPr>
            <a:r>
              <a:rPr lang="vi-VN" sz="2800" b="1" dirty="0">
                <a:solidFill>
                  <a:srgbClr val="0070C0"/>
                </a:solidFill>
              </a:rPr>
              <a:t>IAM Roles &amp; Security</a:t>
            </a:r>
          </a:p>
          <a:p>
            <a:pPr marL="457200" indent="-457200" algn="just">
              <a:lnSpc>
                <a:spcPct val="150000"/>
              </a:lnSpc>
              <a:buFont typeface="Wingdings" panose="05000000000000000000" pitchFamily="2" charset="2"/>
              <a:buChar char="§"/>
            </a:pPr>
            <a:r>
              <a:rPr lang="vi-VN" sz="2400" dirty="0"/>
              <a:t>Hệ thống sử dụng các </a:t>
            </a:r>
            <a:r>
              <a:rPr lang="vi-VN" sz="2400" b="1" dirty="0"/>
              <a:t>IAM Role </a:t>
            </a:r>
            <a:r>
              <a:rPr lang="vi-VN" sz="2400" dirty="0"/>
              <a:t>riêng biệt hoặc gộp hợp lý cho các dịch vụ chính như:</a:t>
            </a:r>
            <a:r>
              <a:rPr lang="en-US" sz="2400" dirty="0"/>
              <a:t> </a:t>
            </a:r>
            <a:r>
              <a:rPr lang="vi-VN" sz="2400" b="1" dirty="0"/>
              <a:t>AWS CodePipeline</a:t>
            </a:r>
            <a:r>
              <a:rPr lang="en-US" sz="2400" b="1" dirty="0"/>
              <a:t>, </a:t>
            </a:r>
            <a:r>
              <a:rPr lang="vi-VN" sz="2400" b="1" dirty="0"/>
              <a:t>AWS CodeBuild</a:t>
            </a:r>
            <a:r>
              <a:rPr lang="en-US" sz="2400" b="1" dirty="0"/>
              <a:t>, </a:t>
            </a:r>
            <a:r>
              <a:rPr lang="vi-VN" sz="2400" b="1" dirty="0"/>
              <a:t>API Gateway</a:t>
            </a:r>
            <a:r>
              <a:rPr lang="en-US" sz="2400" b="1" dirty="0"/>
              <a:t>, </a:t>
            </a:r>
            <a:r>
              <a:rPr lang="vi-VN" sz="2400" b="1" dirty="0"/>
              <a:t>AWS Lambda</a:t>
            </a:r>
            <a:endParaRPr lang="vi-VN" sz="2400" dirty="0"/>
          </a:p>
          <a:p>
            <a:pPr marL="457200" indent="-457200" algn="just">
              <a:lnSpc>
                <a:spcPct val="150000"/>
              </a:lnSpc>
              <a:buFont typeface="Wingdings" panose="05000000000000000000" pitchFamily="2" charset="2"/>
              <a:buChar char="§"/>
            </a:pPr>
            <a:r>
              <a:rPr lang="vi-VN" sz="2400" dirty="0"/>
              <a:t>Các Role được cấp quyền tối thiểu cần thiết (</a:t>
            </a:r>
            <a:r>
              <a:rPr lang="vi-VN" sz="2400" i="1" dirty="0"/>
              <a:t>least privilege</a:t>
            </a:r>
            <a:r>
              <a:rPr lang="vi-VN" sz="2400" dirty="0"/>
              <a:t>), tăng cường bảo mật và giảm thiểu rủi ro cấu hình sai.</a:t>
            </a:r>
          </a:p>
          <a:p>
            <a:pPr marL="457200" indent="-457200" algn="just">
              <a:lnSpc>
                <a:spcPct val="150000"/>
              </a:lnSpc>
              <a:buFont typeface="Wingdings" panose="05000000000000000000" pitchFamily="2" charset="2"/>
              <a:buChar char="§"/>
            </a:pPr>
            <a:r>
              <a:rPr lang="vi-VN" sz="2400" dirty="0"/>
              <a:t>Đảm bảo các hành động chỉ diễn ra trong phạm vi cho phép, phục vụ CI/CD pipeline và truy cập vào DynamoDB hoặc S3.</a:t>
            </a:r>
          </a:p>
        </p:txBody>
      </p:sp>
      <p:sp>
        <p:nvSpPr>
          <p:cNvPr id="4" name="Rectangle 3">
            <a:extLst>
              <a:ext uri="{FF2B5EF4-FFF2-40B4-BE49-F238E27FC236}">
                <a16:creationId xmlns:a16="http://schemas.microsoft.com/office/drawing/2014/main" id="{53198C35-CA45-6389-96BA-9FBB577A5B1D}"/>
              </a:ext>
            </a:extLst>
          </p:cNvPr>
          <p:cNvSpPr/>
          <p:nvPr/>
        </p:nvSpPr>
        <p:spPr>
          <a:xfrm>
            <a:off x="7183583" y="218210"/>
            <a:ext cx="5008418"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C5620C4-2F65-44B6-E33A-966CC2FDFFD8}"/>
              </a:ext>
            </a:extLst>
          </p:cNvPr>
          <p:cNvSpPr txBox="1"/>
          <p:nvPr/>
        </p:nvSpPr>
        <p:spPr>
          <a:xfrm>
            <a:off x="7346373" y="410188"/>
            <a:ext cx="5153892"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Solution Architecture</a:t>
            </a:r>
          </a:p>
        </p:txBody>
      </p:sp>
    </p:spTree>
    <p:extLst>
      <p:ext uri="{BB962C8B-B14F-4D97-AF65-F5344CB8AC3E}">
        <p14:creationId xmlns:p14="http://schemas.microsoft.com/office/powerpoint/2010/main" val="3465650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FFF19-E3C5-17C7-E50D-129E4DCE9F03}"/>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957DB2E4-6CCE-B79F-CCD8-D6FA9ED7E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72D9BD5-288A-CEB1-4B29-DDF71E54EC9E}"/>
              </a:ext>
            </a:extLst>
          </p:cNvPr>
          <p:cNvSpPr txBox="1"/>
          <p:nvPr/>
        </p:nvSpPr>
        <p:spPr>
          <a:xfrm>
            <a:off x="180975" y="1248497"/>
            <a:ext cx="11830050" cy="565616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sz="2800" b="1" dirty="0">
                <a:solidFill>
                  <a:srgbClr val="0070C0"/>
                </a:solidFill>
              </a:rPr>
              <a:t>Observability – CloudWatch, Logs, Alarms, Tracing</a:t>
            </a:r>
          </a:p>
          <a:p>
            <a:pPr marL="285750" indent="-285750" algn="just">
              <a:lnSpc>
                <a:spcPct val="150000"/>
              </a:lnSpc>
              <a:buFont typeface="Wingdings" panose="05000000000000000000" pitchFamily="2" charset="2"/>
              <a:buChar char="§"/>
            </a:pPr>
            <a:r>
              <a:rPr lang="vi-VN" sz="2400" b="1" dirty="0"/>
              <a:t>CloudWatch Logs</a:t>
            </a:r>
            <a:r>
              <a:rPr lang="vi-VN" sz="2400" dirty="0"/>
              <a:t>:</a:t>
            </a:r>
            <a:r>
              <a:rPr lang="en-US" sz="2400" dirty="0"/>
              <a:t> </a:t>
            </a:r>
            <a:r>
              <a:rPr lang="vi-VN" sz="2400" dirty="0"/>
              <a:t>Ghi nhận đầy đủ logs của Lambda và API Gateway, hỗ trợ quá trình kiểm thử và debugging.</a:t>
            </a:r>
          </a:p>
          <a:p>
            <a:pPr marL="285750" indent="-285750" algn="just">
              <a:lnSpc>
                <a:spcPct val="150000"/>
              </a:lnSpc>
              <a:buFont typeface="Wingdings" panose="05000000000000000000" pitchFamily="2" charset="2"/>
              <a:buChar char="§"/>
            </a:pPr>
            <a:r>
              <a:rPr lang="vi-VN" sz="2400" b="1" dirty="0"/>
              <a:t>AWS X-Ray</a:t>
            </a:r>
            <a:r>
              <a:rPr lang="vi-VN" sz="2400" dirty="0"/>
              <a:t>:</a:t>
            </a:r>
            <a:r>
              <a:rPr lang="en-US" sz="2400" dirty="0"/>
              <a:t> </a:t>
            </a:r>
            <a:r>
              <a:rPr lang="vi-VN" sz="2400" dirty="0"/>
              <a:t>Được tích hợp vào Lambda và API Gateway giúp theo dõi </a:t>
            </a:r>
            <a:r>
              <a:rPr lang="vi-VN" sz="2400" i="1" dirty="0"/>
              <a:t>end-to-end</a:t>
            </a:r>
            <a:r>
              <a:rPr lang="vi-VN" sz="2400" dirty="0"/>
              <a:t> request tracing</a:t>
            </a:r>
            <a:r>
              <a:rPr lang="en-US" sz="2400" dirty="0"/>
              <a:t> </a:t>
            </a:r>
            <a:r>
              <a:rPr lang="en-US" sz="2400" dirty="0" err="1"/>
              <a:t>và</a:t>
            </a:r>
            <a:r>
              <a:rPr lang="en-US" sz="2400" dirty="0"/>
              <a:t> d</a:t>
            </a:r>
            <a:r>
              <a:rPr lang="vi-VN" sz="2400" dirty="0"/>
              <a:t>ễ dàng xác định bottlenecks,</a:t>
            </a:r>
            <a:r>
              <a:rPr lang="en-US" sz="2400" dirty="0"/>
              <a:t> </a:t>
            </a:r>
            <a:r>
              <a:rPr lang="vi-VN" sz="2400" dirty="0"/>
              <a:t>performance degradation hoặc lỗi tiềm ẩn.</a:t>
            </a:r>
          </a:p>
          <a:p>
            <a:pPr marL="285750" indent="-285750" algn="just">
              <a:lnSpc>
                <a:spcPct val="150000"/>
              </a:lnSpc>
              <a:buFont typeface="Wingdings" panose="05000000000000000000" pitchFamily="2" charset="2"/>
              <a:buChar char="§"/>
            </a:pPr>
            <a:r>
              <a:rPr lang="vi-VN" sz="2400" b="1" dirty="0"/>
              <a:t>CloudWatch Alarms</a:t>
            </a:r>
            <a:r>
              <a:rPr lang="vi-VN" sz="2400" dirty="0"/>
              <a:t>:</a:t>
            </a:r>
          </a:p>
          <a:p>
            <a:pPr lvl="1" algn="just">
              <a:lnSpc>
                <a:spcPct val="150000"/>
              </a:lnSpc>
            </a:pPr>
            <a:r>
              <a:rPr lang="vi-VN" sz="2400" dirty="0"/>
              <a:t>Cấu hình cảnh báo theo ngưỡng cho các chỉ số quan trọng như:</a:t>
            </a:r>
            <a:r>
              <a:rPr lang="en-US" sz="2400" dirty="0"/>
              <a:t> </a:t>
            </a:r>
            <a:r>
              <a:rPr lang="vi-VN" sz="2400" dirty="0"/>
              <a:t>Tỉ lệ lỗi (Lambda Error Rate &gt; 5%)</a:t>
            </a:r>
            <a:r>
              <a:rPr lang="en-US" sz="2400" dirty="0"/>
              <a:t>, </a:t>
            </a:r>
            <a:r>
              <a:rPr lang="vi-VN" sz="2400" dirty="0"/>
              <a:t>API Gateway 5XX Errors</a:t>
            </a:r>
            <a:r>
              <a:rPr lang="en-US" sz="2400" dirty="0"/>
              <a:t>, </a:t>
            </a:r>
            <a:r>
              <a:rPr lang="vi-VN" sz="2400" dirty="0"/>
              <a:t>Lambda Duration vượt ngưỡng</a:t>
            </a:r>
            <a:r>
              <a:rPr lang="en-US" sz="2400" dirty="0"/>
              <a:t> </a:t>
            </a:r>
            <a:r>
              <a:rPr lang="en-US" sz="2400" dirty="0" err="1">
                <a:cs typeface="Arial" panose="020B0604020202020204" pitchFamily="34" charset="0"/>
              </a:rPr>
              <a:t>và</a:t>
            </a:r>
            <a:r>
              <a:rPr lang="en-US" sz="2400" dirty="0"/>
              <a:t> </a:t>
            </a:r>
            <a:r>
              <a:rPr lang="en-US" sz="2400" dirty="0">
                <a:cs typeface="Arial" panose="020B0604020202020204" pitchFamily="34" charset="0"/>
              </a:rPr>
              <a:t>c</a:t>
            </a:r>
            <a:r>
              <a:rPr lang="vi-VN" sz="2400" dirty="0"/>
              <a:t>ó thể mở rộng thêm thông báo qua SNS nếu cần.</a:t>
            </a:r>
          </a:p>
        </p:txBody>
      </p:sp>
      <p:sp>
        <p:nvSpPr>
          <p:cNvPr id="4" name="Rectangle 3">
            <a:extLst>
              <a:ext uri="{FF2B5EF4-FFF2-40B4-BE49-F238E27FC236}">
                <a16:creationId xmlns:a16="http://schemas.microsoft.com/office/drawing/2014/main" id="{11BE2B67-34E3-ECD4-0021-B8D7518AF297}"/>
              </a:ext>
            </a:extLst>
          </p:cNvPr>
          <p:cNvSpPr/>
          <p:nvPr/>
        </p:nvSpPr>
        <p:spPr>
          <a:xfrm>
            <a:off x="7183583" y="218210"/>
            <a:ext cx="5008418"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95A1F41-2EDA-F032-575C-F658644F6AFE}"/>
              </a:ext>
            </a:extLst>
          </p:cNvPr>
          <p:cNvSpPr txBox="1"/>
          <p:nvPr/>
        </p:nvSpPr>
        <p:spPr>
          <a:xfrm>
            <a:off x="7346373" y="410188"/>
            <a:ext cx="5153892"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Solution Architecture</a:t>
            </a:r>
          </a:p>
        </p:txBody>
      </p:sp>
    </p:spTree>
    <p:extLst>
      <p:ext uri="{BB962C8B-B14F-4D97-AF65-F5344CB8AC3E}">
        <p14:creationId xmlns:p14="http://schemas.microsoft.com/office/powerpoint/2010/main" val="2519036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ADAD0-CD8F-B8DE-1E4C-7F761473662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C825A2F-C87E-E5BA-D9FB-29700E37D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5E2E2E-E8D7-98AC-92BA-B8E286828EBE}"/>
              </a:ext>
            </a:extLst>
          </p:cNvPr>
          <p:cNvSpPr txBox="1"/>
          <p:nvPr/>
        </p:nvSpPr>
        <p:spPr>
          <a:xfrm>
            <a:off x="1199284" y="1716670"/>
            <a:ext cx="9793431" cy="4548168"/>
          </a:xfrm>
          <a:prstGeom prst="rect">
            <a:avLst/>
          </a:prstGeom>
          <a:noFill/>
        </p:spPr>
        <p:txBody>
          <a:bodyPr wrap="square">
            <a:spAutoFit/>
          </a:bodyPr>
          <a:lstStyle/>
          <a:p>
            <a:pPr marL="457200" indent="-457200" algn="just">
              <a:lnSpc>
                <a:spcPct val="150000"/>
              </a:lnSpc>
              <a:buFont typeface="Wingdings" panose="05000000000000000000" pitchFamily="2" charset="2"/>
              <a:buChar char="q"/>
            </a:pPr>
            <a:r>
              <a:rPr lang="vi-VN" sz="2800" b="1" dirty="0">
                <a:solidFill>
                  <a:srgbClr val="0070C0"/>
                </a:solidFill>
              </a:rPr>
              <a:t>Độ tin cậy và mở rộng</a:t>
            </a:r>
          </a:p>
          <a:p>
            <a:pPr marL="285750" indent="-285750" algn="just">
              <a:lnSpc>
                <a:spcPct val="150000"/>
              </a:lnSpc>
              <a:buFont typeface="Wingdings" panose="05000000000000000000" pitchFamily="2" charset="2"/>
              <a:buChar char="§"/>
            </a:pPr>
            <a:r>
              <a:rPr lang="vi-VN" sz="2400" b="1" dirty="0"/>
              <a:t>Serverless</a:t>
            </a:r>
            <a:r>
              <a:rPr lang="vi-VN" sz="2400" dirty="0"/>
              <a:t> giúp tự động scale theo nhu cầu thực tế (burst traffic không ảnh hưởng đến hiệu năng).</a:t>
            </a:r>
          </a:p>
          <a:p>
            <a:pPr marL="285750" indent="-285750" algn="just">
              <a:lnSpc>
                <a:spcPct val="150000"/>
              </a:lnSpc>
              <a:buFont typeface="Wingdings" panose="05000000000000000000" pitchFamily="2" charset="2"/>
              <a:buChar char="§"/>
            </a:pPr>
            <a:r>
              <a:rPr lang="vi-VN" sz="2400" b="1" dirty="0"/>
              <a:t>CI/CD</a:t>
            </a:r>
            <a:r>
              <a:rPr lang="vi-VN" sz="2400" dirty="0"/>
              <a:t> với CodePipeline + CodeBuild đảm bảo mỗi lần thay đổi mã nguồn đều được kiểm thử và triển khai tự động, giảm rủi ro manual deployment.</a:t>
            </a:r>
          </a:p>
          <a:p>
            <a:pPr marL="285750" indent="-285750" algn="just">
              <a:lnSpc>
                <a:spcPct val="150000"/>
              </a:lnSpc>
              <a:buFont typeface="Wingdings" panose="05000000000000000000" pitchFamily="2" charset="2"/>
              <a:buChar char="§"/>
            </a:pPr>
            <a:r>
              <a:rPr lang="vi-VN" sz="2400" b="1" dirty="0"/>
              <a:t>DynamoDB</a:t>
            </a:r>
            <a:r>
              <a:rPr lang="vi-VN" sz="2400" dirty="0"/>
              <a:t> đảm bảo hiệu năng cao, latency thấp và khả năng scale theo chiều ngang.</a:t>
            </a:r>
          </a:p>
        </p:txBody>
      </p:sp>
      <p:sp>
        <p:nvSpPr>
          <p:cNvPr id="4" name="Rectangle 3">
            <a:extLst>
              <a:ext uri="{FF2B5EF4-FFF2-40B4-BE49-F238E27FC236}">
                <a16:creationId xmlns:a16="http://schemas.microsoft.com/office/drawing/2014/main" id="{631010D6-AD45-FCD4-09F9-5DD0AD865FBE}"/>
              </a:ext>
            </a:extLst>
          </p:cNvPr>
          <p:cNvSpPr/>
          <p:nvPr/>
        </p:nvSpPr>
        <p:spPr>
          <a:xfrm>
            <a:off x="7183583" y="218210"/>
            <a:ext cx="5008418"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9CF2A64-E319-E872-561A-83233727CE11}"/>
              </a:ext>
            </a:extLst>
          </p:cNvPr>
          <p:cNvSpPr txBox="1"/>
          <p:nvPr/>
        </p:nvSpPr>
        <p:spPr>
          <a:xfrm>
            <a:off x="7346373" y="410188"/>
            <a:ext cx="5153892"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Solution Architecture</a:t>
            </a:r>
          </a:p>
        </p:txBody>
      </p:sp>
    </p:spTree>
    <p:extLst>
      <p:ext uri="{BB962C8B-B14F-4D97-AF65-F5344CB8AC3E}">
        <p14:creationId xmlns:p14="http://schemas.microsoft.com/office/powerpoint/2010/main" val="160429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529F-604B-3A43-422C-F86F59F03CB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C346E1D-9DFC-E4E5-B14D-14751D628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46CB763-B2E7-ED12-467B-27792A7DFCBB}"/>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5C9A51C-4292-F896-ADBE-617E2E208B06}"/>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graphicFrame>
        <p:nvGraphicFramePr>
          <p:cNvPr id="9" name="Table 8">
            <a:extLst>
              <a:ext uri="{FF2B5EF4-FFF2-40B4-BE49-F238E27FC236}">
                <a16:creationId xmlns:a16="http://schemas.microsoft.com/office/drawing/2014/main" id="{5AC248E7-C1F4-9DD8-4F9C-D15AD7EBE0E4}"/>
              </a:ext>
            </a:extLst>
          </p:cNvPr>
          <p:cNvGraphicFramePr>
            <a:graphicFrameLocks noGrp="1"/>
          </p:cNvGraphicFramePr>
          <p:nvPr>
            <p:extLst>
              <p:ext uri="{D42A27DB-BD31-4B8C-83A1-F6EECF244321}">
                <p14:modId xmlns:p14="http://schemas.microsoft.com/office/powerpoint/2010/main" val="4195009039"/>
              </p:ext>
            </p:extLst>
          </p:nvPr>
        </p:nvGraphicFramePr>
        <p:xfrm>
          <a:off x="353291" y="1771717"/>
          <a:ext cx="11679381" cy="4359723"/>
        </p:xfrm>
        <a:graphic>
          <a:graphicData uri="http://schemas.openxmlformats.org/drawingml/2006/table">
            <a:tbl>
              <a:tblPr>
                <a:tableStyleId>{2D5ABB26-0587-4C30-8999-92F81FD0307C}</a:tableStyleId>
              </a:tblPr>
              <a:tblGrid>
                <a:gridCol w="1589809">
                  <a:extLst>
                    <a:ext uri="{9D8B030D-6E8A-4147-A177-3AD203B41FA5}">
                      <a16:colId xmlns:a16="http://schemas.microsoft.com/office/drawing/2014/main" val="2905244003"/>
                    </a:ext>
                  </a:extLst>
                </a:gridCol>
                <a:gridCol w="4436918">
                  <a:extLst>
                    <a:ext uri="{9D8B030D-6E8A-4147-A177-3AD203B41FA5}">
                      <a16:colId xmlns:a16="http://schemas.microsoft.com/office/drawing/2014/main" val="186521890"/>
                    </a:ext>
                  </a:extLst>
                </a:gridCol>
                <a:gridCol w="5652654">
                  <a:extLst>
                    <a:ext uri="{9D8B030D-6E8A-4147-A177-3AD203B41FA5}">
                      <a16:colId xmlns:a16="http://schemas.microsoft.com/office/drawing/2014/main" val="3908380965"/>
                    </a:ext>
                  </a:extLst>
                </a:gridCol>
              </a:tblGrid>
              <a:tr h="0">
                <a:tc>
                  <a:txBody>
                    <a:bodyPr/>
                    <a:lstStyle/>
                    <a:p>
                      <a:pPr algn="ctr">
                        <a:lnSpc>
                          <a:spcPct val="150000"/>
                        </a:lnSpc>
                        <a:buNone/>
                      </a:pPr>
                      <a:r>
                        <a:rPr lang="en-US" sz="2000" dirty="0">
                          <a:latin typeface="Arial" panose="020B0604020202020204" pitchFamily="34" charset="0"/>
                          <a:cs typeface="Arial" panose="020B0604020202020204" pitchFamily="34" charset="0"/>
                        </a:rPr>
                        <a:t>Pha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Nội</a:t>
                      </a:r>
                      <a:r>
                        <a:rPr lang="en-US" sz="2000" dirty="0">
                          <a:latin typeface="Arial" panose="020B0604020202020204" pitchFamily="34" charset="0"/>
                          <a:cs typeface="Arial" panose="020B0604020202020204" pitchFamily="34" charset="0"/>
                        </a:rPr>
                        <a:t> dung </a:t>
                      </a:r>
                      <a:r>
                        <a:rPr lang="en-US" sz="2000" dirty="0" err="1">
                          <a:latin typeface="Arial" panose="020B0604020202020204" pitchFamily="34" charset="0"/>
                          <a:cs typeface="Arial" panose="020B0604020202020204" pitchFamily="34" charset="0"/>
                        </a:rPr>
                        <a:t>chính</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Sản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phẩm</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162533698"/>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err="1">
                          <a:latin typeface="Arial" panose="020B0604020202020204" pitchFamily="34" charset="0"/>
                          <a:cs typeface="Arial" panose="020B0604020202020204" pitchFamily="34" charset="0"/>
                        </a:rPr>
                        <a:t>Thiết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a:t>
                      </a:r>
                      <a:r>
                        <a:rPr lang="en-US" sz="2000" dirty="0">
                          <a:latin typeface="Arial" panose="020B0604020202020204" pitchFamily="34" charset="0"/>
                          <a:cs typeface="Arial" panose="020B0604020202020204" pitchFamily="34" charset="0"/>
                        </a:rPr>
                        <a:t> OpenAPI Spec </a:t>
                      </a:r>
                      <a:r>
                        <a:rPr lang="en-US" sz="2000" dirty="0" err="1">
                          <a:latin typeface="Arial" panose="020B0604020202020204" pitchFamily="34" charset="0"/>
                          <a:cs typeface="Arial" panose="020B0604020202020204" pitchFamily="34" charset="0"/>
                        </a:rPr>
                        <a:t>chuẩn</a:t>
                      </a:r>
                      <a:r>
                        <a:rPr lang="en-US" sz="2000" dirty="0">
                          <a:latin typeface="Arial" panose="020B0604020202020204" pitchFamily="34" charset="0"/>
                          <a:cs typeface="Arial" panose="020B0604020202020204" pitchFamily="34" charset="0"/>
                        </a:rPr>
                        <a:t> 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err="1">
                          <a:latin typeface="Arial" panose="020B0604020202020204" pitchFamily="34" charset="0"/>
                          <a:cs typeface="Arial" panose="020B0604020202020204" pitchFamily="34" charset="0"/>
                        </a:rPr>
                        <a:t>api.yaml</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nghĩa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đủ</a:t>
                      </a:r>
                      <a:r>
                        <a:rPr lang="en-US" sz="2000" dirty="0">
                          <a:latin typeface="Arial" panose="020B0604020202020204" pitchFamily="34" charset="0"/>
                          <a:cs typeface="Arial" panose="020B0604020202020204" pitchFamily="34" charset="0"/>
                        </a:rPr>
                        <a:t> endpoint, schema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997265"/>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it-IT" sz="2000" dirty="0">
                          <a:latin typeface="Arial" panose="020B0604020202020204" pitchFamily="34" charset="0"/>
                          <a:cs typeface="Arial" panose="020B0604020202020204" pitchFamily="34" charset="0"/>
                        </a:rPr>
                        <a:t>Tạo code bằng OpenAPI Generator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a:latin typeface="Arial" panose="020B0604020202020204" pitchFamily="34" charset="0"/>
                          <a:cs typeface="Arial" panose="020B0604020202020204" pitchFamily="34" charset="0"/>
                        </a:rPr>
                        <a:t>Client (typescript-fetch), Server stub (</a:t>
                      </a:r>
                      <a:r>
                        <a:rPr lang="en-US" sz="2000" dirty="0" err="1">
                          <a:latin typeface="Arial" panose="020B0604020202020204" pitchFamily="34" charset="0"/>
                          <a:cs typeface="Arial" panose="020B0604020202020204" pitchFamily="34" charset="0"/>
                        </a:rPr>
                        <a:t>nodejs</a:t>
                      </a:r>
                      <a:r>
                        <a:rPr lang="en-US" sz="2000" dirty="0">
                          <a:latin typeface="Arial" panose="020B0604020202020204" pitchFamily="34" charset="0"/>
                          <a:cs typeface="Arial" panose="020B0604020202020204" pitchFamily="34" charset="0"/>
                        </a:rPr>
                        <a:t>-express-server)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1189551"/>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 Lambda + API 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a:latin typeface="Arial" panose="020B0604020202020204" pitchFamily="34" charset="0"/>
                          <a:cs typeface="Arial" panose="020B0604020202020204" pitchFamily="34" charset="0"/>
                        </a:rPr>
                        <a:t>Route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request </a:t>
                      </a:r>
                      <a:r>
                        <a:rPr lang="en-US" sz="2000" dirty="0" err="1">
                          <a:latin typeface="Arial" panose="020B0604020202020204" pitchFamily="34" charset="0"/>
                          <a:cs typeface="Arial" panose="020B0604020202020204" pitchFamily="34" charset="0"/>
                        </a:rPr>
                        <a:t>đến</a:t>
                      </a:r>
                      <a:r>
                        <a:rPr lang="en-US" sz="2000" dirty="0">
                          <a:latin typeface="Arial" panose="020B0604020202020204" pitchFamily="34" charset="0"/>
                          <a:cs typeface="Arial" panose="020B0604020202020204" pitchFamily="34" charset="0"/>
                        </a:rPr>
                        <a:t> Lambda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vụ</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2318241"/>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vi-VN" sz="2000">
                          <a:latin typeface="Arial" panose="020B0604020202020204" pitchFamily="34" charset="0"/>
                          <a:cs typeface="Arial" panose="020B0604020202020204" pitchFamily="34" charset="0"/>
                        </a:rPr>
                        <a:t>Lưu trữ dữ liệu bằng DynamoDB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a:latin typeface="Arial" panose="020B0604020202020204" pitchFamily="34" charset="0"/>
                          <a:cs typeface="Arial" panose="020B0604020202020204" pitchFamily="34" charset="0"/>
                        </a:rPr>
                        <a:t>Định </a:t>
                      </a:r>
                      <a:r>
                        <a:rPr lang="en-US" sz="2000" dirty="0" err="1">
                          <a:latin typeface="Arial" panose="020B0604020202020204" pitchFamily="34" charset="0"/>
                          <a:cs typeface="Arial" panose="020B0604020202020204" pitchFamily="34" charset="0"/>
                        </a:rPr>
                        <a:t>nghĩa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bảng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Lambda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564880"/>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a:latin typeface="Arial" panose="020B0604020202020204" pitchFamily="34" charset="0"/>
                          <a:cs typeface="Arial" panose="020B0604020202020204" pitchFamily="34" charset="0"/>
                        </a:rPr>
                        <a:t>Thiết lập CI/CD (CodePipeline + CodeBuild)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test + deploy </a:t>
                      </a:r>
                      <a:r>
                        <a:rPr lang="en-US" sz="2000" dirty="0" err="1">
                          <a:latin typeface="Arial" panose="020B0604020202020204" pitchFamily="34" charset="0"/>
                          <a:cs typeface="Arial" panose="020B0604020202020204" pitchFamily="34" charset="0"/>
                        </a:rPr>
                        <a:t>từ</a:t>
                      </a:r>
                      <a:r>
                        <a:rPr lang="en-US" sz="2000" dirty="0">
                          <a:latin typeface="Arial" panose="020B0604020202020204" pitchFamily="34" charset="0"/>
                          <a:cs typeface="Arial" panose="020B0604020202020204" pitchFamily="34" charset="0"/>
                        </a:rPr>
                        <a:t> GitHub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568541"/>
                  </a:ext>
                </a:extLst>
              </a:tr>
              <a:tr h="0">
                <a:tc>
                  <a:txBody>
                    <a:bodyPr/>
                    <a:lstStyle/>
                    <a:p>
                      <a:pPr algn="ctr">
                        <a:lnSpc>
                          <a:spcPct val="150000"/>
                        </a:lnSpc>
                        <a:buNone/>
                      </a:pPr>
                      <a:r>
                        <a:rPr lang="en-US" sz="2000" dirty="0">
                          <a:latin typeface="Arial" panose="020B0604020202020204" pitchFamily="34" charset="0"/>
                          <a:cs typeface="Arial" panose="020B0604020202020204" pitchFamily="34" charset="0"/>
                        </a:rPr>
                        <a:t>Pha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a:latin typeface="Arial" panose="020B0604020202020204" pitchFamily="34" charset="0"/>
                          <a:cs typeface="Arial" panose="020B0604020202020204" pitchFamily="34" charset="0"/>
                        </a:rPr>
                        <a:t>Monitoring &amp; Observability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buNone/>
                      </a:pPr>
                      <a:r>
                        <a:rPr lang="en-US" sz="2000" dirty="0">
                          <a:latin typeface="Arial" panose="020B0604020202020204" pitchFamily="34" charset="0"/>
                          <a:cs typeface="Arial" panose="020B0604020202020204" pitchFamily="34" charset="0"/>
                        </a:rPr>
                        <a:t>Logs, X-Ray trace, CloudWatch Alarms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985427"/>
                  </a:ext>
                </a:extLst>
              </a:tr>
            </a:tbl>
          </a:graphicData>
        </a:graphic>
      </p:graphicFrame>
      <p:sp>
        <p:nvSpPr>
          <p:cNvPr id="11" name="TextBox 10">
            <a:extLst>
              <a:ext uri="{FF2B5EF4-FFF2-40B4-BE49-F238E27FC236}">
                <a16:creationId xmlns:a16="http://schemas.microsoft.com/office/drawing/2014/main" id="{FCF6ECAF-F178-04BE-3114-568E6F5512D1}"/>
              </a:ext>
            </a:extLst>
          </p:cNvPr>
          <p:cNvSpPr txBox="1"/>
          <p:nvPr/>
        </p:nvSpPr>
        <p:spPr>
          <a:xfrm>
            <a:off x="271321" y="1248497"/>
            <a:ext cx="8467434" cy="523220"/>
          </a:xfrm>
          <a:prstGeom prst="rect">
            <a:avLst/>
          </a:prstGeom>
          <a:noFill/>
        </p:spPr>
        <p:txBody>
          <a:bodyPr wrap="square">
            <a:spAutoFit/>
          </a:bodyPr>
          <a:lstStyle/>
          <a:p>
            <a:pPr marL="457200" indent="-457200">
              <a:buFont typeface="Wingdings" panose="05000000000000000000" pitchFamily="2" charset="2"/>
              <a:buChar char="q"/>
            </a:pPr>
            <a:r>
              <a:rPr lang="fr-FR" sz="2800" b="1" dirty="0" err="1">
                <a:solidFill>
                  <a:srgbClr val="0070C0"/>
                </a:solidFill>
                <a:latin typeface="Arial" panose="020B0604020202020204" pitchFamily="34" charset="0"/>
                <a:cs typeface="Arial" panose="020B0604020202020204" pitchFamily="34" charset="0"/>
              </a:rPr>
              <a:t>Phân</a:t>
            </a:r>
            <a:r>
              <a:rPr lang="fr-FR" sz="2800" b="1" dirty="0">
                <a:solidFill>
                  <a:srgbClr val="0070C0"/>
                </a:solidFill>
                <a:latin typeface="Arial" panose="020B0604020202020204" pitchFamily="34" charset="0"/>
                <a:cs typeface="Arial" panose="020B0604020202020204" pitchFamily="34" charset="0"/>
              </a:rPr>
              <a:t> </a:t>
            </a:r>
            <a:r>
              <a:rPr lang="fr-FR" sz="2800" b="1" dirty="0" err="1">
                <a:solidFill>
                  <a:srgbClr val="0070C0"/>
                </a:solidFill>
                <a:latin typeface="Arial" panose="020B0604020202020204" pitchFamily="34" charset="0"/>
                <a:cs typeface="Arial" panose="020B0604020202020204" pitchFamily="34" charset="0"/>
              </a:rPr>
              <a:t>pha</a:t>
            </a:r>
            <a:r>
              <a:rPr lang="fr-FR" sz="2800" b="1" dirty="0">
                <a:solidFill>
                  <a:srgbClr val="0070C0"/>
                </a:solidFill>
                <a:latin typeface="Arial" panose="020B0604020202020204" pitchFamily="34" charset="0"/>
                <a:cs typeface="Arial" panose="020B0604020202020204" pitchFamily="34" charset="0"/>
              </a:rPr>
              <a:t> </a:t>
            </a:r>
            <a:r>
              <a:rPr lang="fr-FR" sz="2800" b="1" dirty="0" err="1">
                <a:solidFill>
                  <a:srgbClr val="0070C0"/>
                </a:solidFill>
                <a:latin typeface="Arial" panose="020B0604020202020204" pitchFamily="34" charset="0"/>
                <a:cs typeface="Arial" panose="020B0604020202020204" pitchFamily="34" charset="0"/>
              </a:rPr>
              <a:t>triển</a:t>
            </a:r>
            <a:r>
              <a:rPr lang="fr-FR" sz="2800" b="1" dirty="0">
                <a:solidFill>
                  <a:srgbClr val="0070C0"/>
                </a:solidFill>
                <a:latin typeface="Arial" panose="020B0604020202020204" pitchFamily="34" charset="0"/>
                <a:cs typeface="Arial" panose="020B0604020202020204" pitchFamily="34" charset="0"/>
              </a:rPr>
              <a:t> </a:t>
            </a:r>
            <a:r>
              <a:rPr lang="fr-FR" sz="2800" b="1" dirty="0" err="1">
                <a:solidFill>
                  <a:srgbClr val="0070C0"/>
                </a:solidFill>
                <a:latin typeface="Arial" panose="020B0604020202020204" pitchFamily="34" charset="0"/>
                <a:cs typeface="Arial" panose="020B0604020202020204" pitchFamily="34" charset="0"/>
              </a:rPr>
              <a:t>khai</a:t>
            </a:r>
            <a:r>
              <a:rPr lang="fr-FR" sz="2800" b="1" dirty="0">
                <a:solidFill>
                  <a:srgbClr val="0070C0"/>
                </a:solidFill>
                <a:latin typeface="Arial" panose="020B0604020202020204" pitchFamily="34" charset="0"/>
                <a:cs typeface="Arial" panose="020B0604020202020204" pitchFamily="34" charset="0"/>
              </a:rPr>
              <a:t> (</a:t>
            </a:r>
            <a:r>
              <a:rPr lang="fr-FR" sz="2800" b="1" dirty="0" err="1">
                <a:solidFill>
                  <a:srgbClr val="0070C0"/>
                </a:solidFill>
                <a:latin typeface="Arial" panose="020B0604020202020204" pitchFamily="34" charset="0"/>
                <a:cs typeface="Arial" panose="020B0604020202020204" pitchFamily="34" charset="0"/>
              </a:rPr>
              <a:t>Implementation</a:t>
            </a:r>
            <a:r>
              <a:rPr lang="fr-FR" sz="2800" b="1" dirty="0">
                <a:solidFill>
                  <a:srgbClr val="0070C0"/>
                </a:solidFill>
                <a:latin typeface="Arial" panose="020B0604020202020204" pitchFamily="34" charset="0"/>
                <a:cs typeface="Arial" panose="020B0604020202020204" pitchFamily="34" charset="0"/>
              </a:rPr>
              <a:t> Phases)</a:t>
            </a:r>
            <a:endParaRPr lang="en-US" sz="28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8105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0C2B3-1F90-3689-F588-988B9A2D416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69C2A14-75E3-F542-4D1B-894A0A77D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075B76-BACD-927B-853C-9CD07C8CC55A}"/>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DEB79E8-541A-EFD4-09EA-2D8E8CAF4A2D}"/>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sp>
        <p:nvSpPr>
          <p:cNvPr id="7" name="TextBox 6">
            <a:extLst>
              <a:ext uri="{FF2B5EF4-FFF2-40B4-BE49-F238E27FC236}">
                <a16:creationId xmlns:a16="http://schemas.microsoft.com/office/drawing/2014/main" id="{B4ADC7E9-1C4B-79CB-2138-6033FAC7E1DF}"/>
              </a:ext>
            </a:extLst>
          </p:cNvPr>
          <p:cNvSpPr txBox="1"/>
          <p:nvPr/>
        </p:nvSpPr>
        <p:spPr>
          <a:xfrm>
            <a:off x="410440" y="1439386"/>
            <a:ext cx="7933459"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err="1">
                <a:solidFill>
                  <a:srgbClr val="0070C0"/>
                </a:solidFill>
                <a:latin typeface="Arial" panose="020B0604020202020204" pitchFamily="34" charset="0"/>
                <a:cs typeface="Arial" panose="020B0604020202020204" pitchFamily="34" charset="0"/>
              </a:rPr>
              <a:t>Yêu</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cầu</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kỹ</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thuật</a:t>
            </a:r>
            <a:r>
              <a:rPr lang="en-US" sz="2800" b="1" dirty="0">
                <a:solidFill>
                  <a:srgbClr val="0070C0"/>
                </a:solidFill>
                <a:latin typeface="Arial" panose="020B0604020202020204" pitchFamily="34" charset="0"/>
                <a:cs typeface="Arial" panose="020B0604020202020204" pitchFamily="34" charset="0"/>
              </a:rPr>
              <a:t> (Technical Requirements)</a:t>
            </a:r>
          </a:p>
        </p:txBody>
      </p:sp>
      <p:graphicFrame>
        <p:nvGraphicFramePr>
          <p:cNvPr id="2" name="Table 1">
            <a:extLst>
              <a:ext uri="{FF2B5EF4-FFF2-40B4-BE49-F238E27FC236}">
                <a16:creationId xmlns:a16="http://schemas.microsoft.com/office/drawing/2014/main" id="{CCA9EB5D-3FA6-4F76-09B5-39DAB0943327}"/>
              </a:ext>
            </a:extLst>
          </p:cNvPr>
          <p:cNvGraphicFramePr>
            <a:graphicFrameLocks noGrp="1"/>
          </p:cNvGraphicFramePr>
          <p:nvPr>
            <p:extLst>
              <p:ext uri="{D42A27DB-BD31-4B8C-83A1-F6EECF244321}">
                <p14:modId xmlns:p14="http://schemas.microsoft.com/office/powerpoint/2010/main" val="1061342733"/>
              </p:ext>
            </p:extLst>
          </p:nvPr>
        </p:nvGraphicFramePr>
        <p:xfrm>
          <a:off x="838200" y="2490455"/>
          <a:ext cx="10515600" cy="3445323"/>
        </p:xfrm>
        <a:graphic>
          <a:graphicData uri="http://schemas.openxmlformats.org/drawingml/2006/table">
            <a:tbl>
              <a:tblPr/>
              <a:tblGrid>
                <a:gridCol w="2476500">
                  <a:extLst>
                    <a:ext uri="{9D8B030D-6E8A-4147-A177-3AD203B41FA5}">
                      <a16:colId xmlns:a16="http://schemas.microsoft.com/office/drawing/2014/main" val="842827084"/>
                    </a:ext>
                  </a:extLst>
                </a:gridCol>
                <a:gridCol w="8039100">
                  <a:extLst>
                    <a:ext uri="{9D8B030D-6E8A-4147-A177-3AD203B41FA5}">
                      <a16:colId xmlns:a16="http://schemas.microsoft.com/office/drawing/2014/main" val="1376676068"/>
                    </a:ext>
                  </a:extLst>
                </a:gridCol>
              </a:tblGrid>
              <a:tr h="0">
                <a:tc>
                  <a:txBody>
                    <a:bodyPr/>
                    <a:lstStyle/>
                    <a:p>
                      <a:pPr>
                        <a:lnSpc>
                          <a:spcPct val="150000"/>
                        </a:lnSpc>
                        <a:buNone/>
                      </a:pPr>
                      <a:r>
                        <a:rPr lang="en-US" sz="2000" dirty="0">
                          <a:latin typeface="Arial" panose="020B0604020202020204" pitchFamily="34" charset="0"/>
                          <a:cs typeface="Arial" panose="020B0604020202020204" pitchFamily="34" charset="0"/>
                        </a:rPr>
                        <a:t>Thành </a:t>
                      </a:r>
                      <a:r>
                        <a:rPr lang="en-US" sz="2000" dirty="0" err="1">
                          <a:latin typeface="Arial" panose="020B0604020202020204" pitchFamily="34" charset="0"/>
                          <a:cs typeface="Arial" panose="020B0604020202020204" pitchFamily="34" charset="0"/>
                        </a:rPr>
                        <a:t>phần</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nSpc>
                          <a:spcPct val="150000"/>
                        </a:lnSpc>
                        <a:buNone/>
                      </a:pPr>
                      <a:r>
                        <a:rPr lang="en-US" sz="2000" dirty="0">
                          <a:latin typeface="Arial" panose="020B0604020202020204" pitchFamily="34" charset="0"/>
                          <a:cs typeface="Arial" panose="020B0604020202020204" pitchFamily="34" charset="0"/>
                        </a:rPr>
                        <a:t>Chi </a:t>
                      </a:r>
                      <a:r>
                        <a:rPr lang="en-US" sz="2000" dirty="0" err="1">
                          <a:latin typeface="Arial" panose="020B0604020202020204" pitchFamily="34" charset="0"/>
                          <a:cs typeface="Arial" panose="020B0604020202020204" pitchFamily="34" charset="0"/>
                        </a:rPr>
                        <a:t>tiết</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79082886"/>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Compute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AWS Lambda (Node.js 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0937541"/>
                  </a:ext>
                </a:extLst>
              </a:tr>
              <a:tr h="0">
                <a:tc>
                  <a:txBody>
                    <a:bodyPr/>
                    <a:lstStyle/>
                    <a:p>
                      <a:pPr>
                        <a:lnSpc>
                          <a:spcPct val="150000"/>
                        </a:lnSpc>
                        <a:buNone/>
                      </a:pPr>
                      <a:r>
                        <a:rPr lang="en-US" sz="2000">
                          <a:latin typeface="Arial" panose="020B0604020202020204" pitchFamily="34" charset="0"/>
                          <a:cs typeface="Arial" panose="020B0604020202020204" pitchFamily="34" charset="0"/>
                        </a:rPr>
                        <a:t>API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Amazon API Gateway (REST mode, path versioning /v1/...)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907667"/>
                  </a:ext>
                </a:extLst>
              </a:tr>
              <a:tr h="0">
                <a:tc>
                  <a:txBody>
                    <a:bodyPr/>
                    <a:lstStyle/>
                    <a:p>
                      <a:pPr>
                        <a:lnSpc>
                          <a:spcPct val="150000"/>
                        </a:lnSpc>
                        <a:buNone/>
                      </a:pPr>
                      <a:r>
                        <a:rPr lang="en-US" sz="2000">
                          <a:latin typeface="Arial" panose="020B0604020202020204" pitchFamily="34" charset="0"/>
                          <a:cs typeface="Arial" panose="020B0604020202020204" pitchFamily="34" charset="0"/>
                        </a:rPr>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DynamoDB (NoSQL, on-demand capacity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5906542"/>
                  </a:ext>
                </a:extLst>
              </a:tr>
              <a:tr h="0">
                <a:tc>
                  <a:txBody>
                    <a:bodyPr/>
                    <a:lstStyle/>
                    <a:p>
                      <a:pPr>
                        <a:lnSpc>
                          <a:spcPct val="150000"/>
                        </a:lnSpc>
                        <a:buNone/>
                      </a:pPr>
                      <a:r>
                        <a:rPr lang="en-US" sz="2000">
                          <a:latin typeface="Arial" panose="020B0604020202020204" pitchFamily="34" charset="0"/>
                          <a:cs typeface="Arial" panose="020B0604020202020204" pitchFamily="34" charset="0"/>
                        </a:rPr>
                        <a:t>Codebase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TypeScript, Jest, OpenAPI Generator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1303293"/>
                  </a:ext>
                </a:extLst>
              </a:tr>
              <a:tr h="0">
                <a:tc>
                  <a:txBody>
                    <a:bodyPr/>
                    <a:lstStyle/>
                    <a:p>
                      <a:pPr>
                        <a:lnSpc>
                          <a:spcPct val="150000"/>
                        </a:lnSpc>
                        <a:buNone/>
                      </a:pPr>
                      <a:r>
                        <a:rPr lang="en-US" sz="2000">
                          <a:latin typeface="Arial" panose="020B0604020202020204" pitchFamily="34" charset="0"/>
                          <a:cs typeface="Arial" panose="020B0604020202020204" pitchFamily="34" charset="0"/>
                        </a:rPr>
                        <a:t>DevOps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CodePipeline, CodeBuild, 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6009695"/>
                  </a:ext>
                </a:extLst>
              </a:tr>
              <a:tr h="0">
                <a:tc>
                  <a:txBody>
                    <a:bodyPr/>
                    <a:lstStyle/>
                    <a:p>
                      <a:pPr>
                        <a:lnSpc>
                          <a:spcPct val="150000"/>
                        </a:lnSpc>
                        <a:buNone/>
                      </a:pPr>
                      <a:r>
                        <a:rPr lang="en-US" sz="2000">
                          <a:latin typeface="Arial" panose="020B0604020202020204" pitchFamily="34" charset="0"/>
                          <a:cs typeface="Arial" panose="020B0604020202020204" pitchFamily="34" charset="0"/>
                        </a:rPr>
                        <a:t>Observability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CloudWatch Logs, Alarms, X-Ray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6974441"/>
                  </a:ext>
                </a:extLst>
              </a:tr>
            </a:tbl>
          </a:graphicData>
        </a:graphic>
      </p:graphicFrame>
    </p:spTree>
    <p:extLst>
      <p:ext uri="{BB962C8B-B14F-4D97-AF65-F5344CB8AC3E}">
        <p14:creationId xmlns:p14="http://schemas.microsoft.com/office/powerpoint/2010/main" val="82806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778A-5249-323B-C422-148317C9DCC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DEE2065-79F6-BEE5-8E0C-E15513DB3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04EE8C6-3422-DA06-5F63-38C0C63A38AF}"/>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03E1621-73A3-FCD1-A3E7-CDEEE14FFF9A}"/>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sp>
        <p:nvSpPr>
          <p:cNvPr id="7" name="TextBox 6">
            <a:extLst>
              <a:ext uri="{FF2B5EF4-FFF2-40B4-BE49-F238E27FC236}">
                <a16:creationId xmlns:a16="http://schemas.microsoft.com/office/drawing/2014/main" id="{F417FE54-CA61-6C8C-F31D-4FFCE1CBA54A}"/>
              </a:ext>
            </a:extLst>
          </p:cNvPr>
          <p:cNvSpPr txBox="1"/>
          <p:nvPr/>
        </p:nvSpPr>
        <p:spPr>
          <a:xfrm>
            <a:off x="472786" y="1519996"/>
            <a:ext cx="9034895"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Phương </a:t>
            </a:r>
            <a:r>
              <a:rPr lang="en-US" sz="2800" b="1" dirty="0" err="1">
                <a:solidFill>
                  <a:srgbClr val="0070C0"/>
                </a:solidFill>
                <a:latin typeface="Arial" panose="020B0604020202020204" pitchFamily="34" charset="0"/>
                <a:cs typeface="Arial" panose="020B0604020202020204" pitchFamily="34" charset="0"/>
              </a:rPr>
              <a:t>pháp</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phát</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triển</a:t>
            </a:r>
            <a:r>
              <a:rPr lang="en-US" sz="2800" b="1" dirty="0">
                <a:solidFill>
                  <a:srgbClr val="0070C0"/>
                </a:solidFill>
                <a:latin typeface="Arial" panose="020B0604020202020204" pitchFamily="34" charset="0"/>
                <a:cs typeface="Arial" panose="020B0604020202020204" pitchFamily="34" charset="0"/>
              </a:rPr>
              <a:t> (Development Approach)</a:t>
            </a:r>
          </a:p>
        </p:txBody>
      </p:sp>
      <p:sp>
        <p:nvSpPr>
          <p:cNvPr id="8" name="TextBox 7">
            <a:extLst>
              <a:ext uri="{FF2B5EF4-FFF2-40B4-BE49-F238E27FC236}">
                <a16:creationId xmlns:a16="http://schemas.microsoft.com/office/drawing/2014/main" id="{0C7BF8B5-E351-B459-BBD0-08CD8075F096}"/>
              </a:ext>
            </a:extLst>
          </p:cNvPr>
          <p:cNvSpPr txBox="1"/>
          <p:nvPr/>
        </p:nvSpPr>
        <p:spPr>
          <a:xfrm>
            <a:off x="497898" y="2547619"/>
            <a:ext cx="11196204" cy="3347840"/>
          </a:xfrm>
          <a:prstGeom prst="rect">
            <a:avLst/>
          </a:prstGeom>
          <a:noFill/>
        </p:spPr>
        <p:txBody>
          <a:bodyPr wrap="square">
            <a:spAutoFit/>
          </a:bodyPr>
          <a:lstStyle/>
          <a:p>
            <a:pPr algn="just">
              <a:lnSpc>
                <a:spcPct val="150000"/>
              </a:lnSpc>
            </a:pPr>
            <a:r>
              <a:rPr lang="en-US" sz="2400" b="1" dirty="0">
                <a:latin typeface="Arial" panose="020B0604020202020204" pitchFamily="34" charset="0"/>
                <a:cs typeface="Arial" panose="020B0604020202020204" pitchFamily="34" charset="0"/>
              </a:rPr>
              <a:t>API-First workflow</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OpenAPI Spec →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code </a:t>
            </a:r>
            <a:r>
              <a:rPr lang="en-US" sz="2400" dirty="0" err="1">
                <a:latin typeface="Arial" panose="020B0604020202020204" pitchFamily="34" charset="0"/>
                <a:cs typeface="Arial" panose="020B0604020202020204" pitchFamily="34" charset="0"/>
              </a:rPr>
              <a:t>tự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gắn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Lambda.</a:t>
            </a:r>
          </a:p>
          <a:p>
            <a:pPr algn="just">
              <a:lnSpc>
                <a:spcPct val="150000"/>
              </a:lnSpc>
            </a:pPr>
            <a:r>
              <a:rPr lang="en-US" sz="2400" b="1" dirty="0">
                <a:latin typeface="Arial" panose="020B0604020202020204" pitchFamily="34" charset="0"/>
                <a:cs typeface="Arial" panose="020B0604020202020204" pitchFamily="34" charset="0"/>
              </a:rPr>
              <a:t>Test-Driven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Viết</a:t>
            </a:r>
            <a:r>
              <a:rPr lang="en-US" sz="2400" dirty="0">
                <a:latin typeface="Arial" panose="020B0604020202020204" pitchFamily="34" charset="0"/>
                <a:cs typeface="Arial" panose="020B0604020202020204" pitchFamily="34" charset="0"/>
              </a:rPr>
              <a:t> unit test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e2e test </a:t>
            </a:r>
            <a:r>
              <a:rPr lang="en-US" sz="2400" dirty="0" err="1">
                <a:latin typeface="Arial" panose="020B0604020202020204" pitchFamily="34" charset="0"/>
                <a:cs typeface="Arial" panose="020B0604020202020204" pitchFamily="34" charset="0"/>
              </a:rPr>
              <a:t>trước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khi</a:t>
            </a:r>
            <a:r>
              <a:rPr lang="en-US" sz="2400" dirty="0">
                <a:latin typeface="Arial" panose="020B0604020202020204" pitchFamily="34" charset="0"/>
                <a:cs typeface="Arial" panose="020B0604020202020204" pitchFamily="34" charset="0"/>
              </a:rPr>
              <a:t> build.</a:t>
            </a:r>
          </a:p>
          <a:p>
            <a:pPr algn="just">
              <a:lnSpc>
                <a:spcPct val="150000"/>
              </a:lnSpc>
            </a:pPr>
            <a:r>
              <a:rPr lang="en-US" sz="2400" b="1" dirty="0">
                <a:latin typeface="Arial" panose="020B0604020202020204" pitchFamily="34" charset="0"/>
                <a:cs typeface="Arial" panose="020B0604020202020204" pitchFamily="34" charset="0"/>
              </a:rPr>
              <a:t>Modular structure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ràng</a:t>
            </a:r>
            <a:r>
              <a:rPr lang="en-US" sz="2400" dirty="0">
                <a:latin typeface="Arial" panose="020B0604020202020204" pitchFamily="34" charset="0"/>
                <a:cs typeface="Arial" panose="020B0604020202020204" pitchFamily="34" charset="0"/>
              </a:rPr>
              <a:t> handler, service, utils, models.</a:t>
            </a:r>
          </a:p>
          <a:p>
            <a:pPr algn="just">
              <a:lnSpc>
                <a:spcPct val="150000"/>
              </a:lnSpc>
            </a:pPr>
            <a:r>
              <a:rPr lang="en-US" sz="2400" b="1" dirty="0">
                <a:latin typeface="Arial" panose="020B0604020202020204" pitchFamily="34" charset="0"/>
                <a:cs typeface="Arial" panose="020B0604020202020204" pitchFamily="34" charset="0"/>
              </a:rPr>
              <a:t>Use GitHub</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nguồn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nhất</a:t>
            </a:r>
            <a:r>
              <a:rPr lang="en-US" sz="2400" dirty="0">
                <a:latin typeface="Arial" panose="020B0604020202020204" pitchFamily="34" charset="0"/>
                <a:cs typeface="Arial" panose="020B0604020202020204" pitchFamily="34" charset="0"/>
              </a:rPr>
              <a:t> (single source of truth)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bộ</a:t>
            </a:r>
            <a:r>
              <a:rPr lang="en-US" sz="2400" dirty="0">
                <a:latin typeface="Arial" panose="020B0604020202020204" pitchFamily="34" charset="0"/>
                <a:cs typeface="Arial" panose="020B0604020202020204" pitchFamily="34" charset="0"/>
              </a:rPr>
              <a:t> code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CI/CD trigger.</a:t>
            </a:r>
          </a:p>
        </p:txBody>
      </p:sp>
    </p:spTree>
    <p:extLst>
      <p:ext uri="{BB962C8B-B14F-4D97-AF65-F5344CB8AC3E}">
        <p14:creationId xmlns:p14="http://schemas.microsoft.com/office/powerpoint/2010/main" val="1806819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06572-94FC-4712-8A74-4BE735329E4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4B2D8BFB-F591-F938-14D9-9EAF61031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EC3793B-6B19-B32B-9CEF-5B66EA42C444}"/>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D962EBA-D628-383C-987B-143A5A2C2D4D}"/>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sp>
        <p:nvSpPr>
          <p:cNvPr id="7" name="TextBox 6">
            <a:extLst>
              <a:ext uri="{FF2B5EF4-FFF2-40B4-BE49-F238E27FC236}">
                <a16:creationId xmlns:a16="http://schemas.microsoft.com/office/drawing/2014/main" id="{5CEDC5C8-4DD8-EB45-669E-173922B05B14}"/>
              </a:ext>
            </a:extLst>
          </p:cNvPr>
          <p:cNvSpPr txBox="1"/>
          <p:nvPr/>
        </p:nvSpPr>
        <p:spPr>
          <a:xfrm>
            <a:off x="357045" y="1440476"/>
            <a:ext cx="7528213" cy="523220"/>
          </a:xfrm>
          <a:prstGeom prst="rect">
            <a:avLst/>
          </a:prstGeom>
          <a:noFill/>
        </p:spPr>
        <p:txBody>
          <a:bodyPr wrap="square">
            <a:spAutoFit/>
          </a:bodyPr>
          <a:lstStyle/>
          <a:p>
            <a:pPr marL="457200" indent="-457200">
              <a:buFont typeface="Wingdings" panose="05000000000000000000" pitchFamily="2" charset="2"/>
              <a:buChar char="q"/>
            </a:pPr>
            <a:r>
              <a:rPr lang="vi-VN" sz="2800" b="1" dirty="0">
                <a:solidFill>
                  <a:srgbClr val="0070C0"/>
                </a:solidFill>
              </a:rPr>
              <a:t>Chiến lược kiểm thử (Testing Strategy)</a:t>
            </a:r>
            <a:endParaRPr lang="en-US" sz="2800" b="1" dirty="0">
              <a:solidFill>
                <a:srgbClr val="0070C0"/>
              </a:solidFill>
            </a:endParaRPr>
          </a:p>
        </p:txBody>
      </p:sp>
      <p:graphicFrame>
        <p:nvGraphicFramePr>
          <p:cNvPr id="2" name="Table 1">
            <a:extLst>
              <a:ext uri="{FF2B5EF4-FFF2-40B4-BE49-F238E27FC236}">
                <a16:creationId xmlns:a16="http://schemas.microsoft.com/office/drawing/2014/main" id="{5DBEEEA5-2B36-3968-D3D5-273FA5CF8687}"/>
              </a:ext>
            </a:extLst>
          </p:cNvPr>
          <p:cNvGraphicFramePr>
            <a:graphicFrameLocks noGrp="1"/>
          </p:cNvGraphicFramePr>
          <p:nvPr>
            <p:extLst>
              <p:ext uri="{D42A27DB-BD31-4B8C-83A1-F6EECF244321}">
                <p14:modId xmlns:p14="http://schemas.microsoft.com/office/powerpoint/2010/main" val="4108858714"/>
              </p:ext>
            </p:extLst>
          </p:nvPr>
        </p:nvGraphicFramePr>
        <p:xfrm>
          <a:off x="838200" y="2565271"/>
          <a:ext cx="10515600" cy="3410334"/>
        </p:xfrm>
        <a:graphic>
          <a:graphicData uri="http://schemas.openxmlformats.org/drawingml/2006/table">
            <a:tbl>
              <a:tblPr/>
              <a:tblGrid>
                <a:gridCol w="2673927">
                  <a:extLst>
                    <a:ext uri="{9D8B030D-6E8A-4147-A177-3AD203B41FA5}">
                      <a16:colId xmlns:a16="http://schemas.microsoft.com/office/drawing/2014/main" val="2819267303"/>
                    </a:ext>
                  </a:extLst>
                </a:gridCol>
                <a:gridCol w="4336473">
                  <a:extLst>
                    <a:ext uri="{9D8B030D-6E8A-4147-A177-3AD203B41FA5}">
                      <a16:colId xmlns:a16="http://schemas.microsoft.com/office/drawing/2014/main" val="274308373"/>
                    </a:ext>
                  </a:extLst>
                </a:gridCol>
                <a:gridCol w="3505200">
                  <a:extLst>
                    <a:ext uri="{9D8B030D-6E8A-4147-A177-3AD203B41FA5}">
                      <a16:colId xmlns:a16="http://schemas.microsoft.com/office/drawing/2014/main" val="768010777"/>
                    </a:ext>
                  </a:extLst>
                </a:gridCol>
              </a:tblGrid>
              <a:tr h="0">
                <a:tc>
                  <a:txBody>
                    <a:bodyPr/>
                    <a:lstStyle/>
                    <a:p>
                      <a:pPr>
                        <a:lnSpc>
                          <a:spcPct val="150000"/>
                        </a:lnSpc>
                        <a:buNone/>
                      </a:pP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thử</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nSpc>
                          <a:spcPct val="150000"/>
                        </a:lnSpc>
                        <a:buNone/>
                      </a:pPr>
                      <a:r>
                        <a:rPr lang="en-US" sz="2000" dirty="0">
                          <a:latin typeface="Arial" panose="020B0604020202020204" pitchFamily="34" charset="0"/>
                          <a:cs typeface="Arial" panose="020B0604020202020204" pitchFamily="34" charset="0"/>
                        </a:rPr>
                        <a:t>Công </a:t>
                      </a:r>
                      <a:r>
                        <a:rPr lang="en-US" sz="2000" dirty="0" err="1">
                          <a:latin typeface="Arial" panose="020B0604020202020204" pitchFamily="34" charset="0"/>
                          <a:cs typeface="Arial" panose="020B0604020202020204" pitchFamily="34" charset="0"/>
                        </a:rPr>
                        <a:t>cụ</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nSpc>
                          <a:spcPct val="150000"/>
                        </a:lnSpc>
                        <a:buNone/>
                      </a:pPr>
                      <a:r>
                        <a:rPr lang="en-US" sz="2000" dirty="0">
                          <a:latin typeface="Arial" panose="020B0604020202020204" pitchFamily="34" charset="0"/>
                          <a:cs typeface="Arial" panose="020B0604020202020204" pitchFamily="34" charset="0"/>
                        </a:rPr>
                        <a:t>Phạm vi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646941364"/>
                  </a:ext>
                </a:extLst>
              </a:tr>
              <a:tr h="0">
                <a:tc>
                  <a:txBody>
                    <a:bodyPr/>
                    <a:lstStyle/>
                    <a:p>
                      <a:pPr>
                        <a:lnSpc>
                          <a:spcPct val="150000"/>
                        </a:lnSpc>
                        <a:buNone/>
                      </a:pPr>
                      <a:r>
                        <a:rPr lang="en-US" sz="2000">
                          <a:latin typeface="Arial" panose="020B0604020202020204" pitchFamily="34" charset="0"/>
                          <a:cs typeface="Arial" panose="020B0604020202020204" pitchFamily="34" charset="0"/>
                        </a:rPr>
                        <a:t>Unit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Jest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userService.ts, utils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6497162"/>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API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Jest + Axios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Test endpoint thông qua API 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7265789"/>
                  </a:ext>
                </a:extLst>
              </a:tr>
              <a:tr h="0">
                <a:tc>
                  <a:txBody>
                    <a:bodyPr/>
                    <a:lstStyle/>
                    <a:p>
                      <a:pPr>
                        <a:lnSpc>
                          <a:spcPct val="150000"/>
                        </a:lnSpc>
                        <a:buNone/>
                      </a:pPr>
                      <a:r>
                        <a:rPr lang="en-US" sz="2000">
                          <a:latin typeface="Arial" panose="020B0604020202020204" pitchFamily="34" charset="0"/>
                          <a:cs typeface="Arial" panose="020B0604020202020204" pitchFamily="34" charset="0"/>
                        </a:rPr>
                        <a:t>Integration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Test end-to-end flow từ API đến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4415748"/>
                  </a:ext>
                </a:extLst>
              </a:tr>
              <a:tr h="0">
                <a:tc>
                  <a:txBody>
                    <a:bodyPr/>
                    <a:lstStyle/>
                    <a:p>
                      <a:pPr>
                        <a:lnSpc>
                          <a:spcPct val="150000"/>
                        </a:lnSpc>
                        <a:buNone/>
                      </a:pPr>
                      <a:r>
                        <a:rPr lang="en-US" sz="2000">
                          <a:latin typeface="Arial" panose="020B0604020202020204" pitchFamily="34" charset="0"/>
                          <a:cs typeface="Arial" panose="020B0604020202020204" pitchFamily="34" charset="0"/>
                        </a:rPr>
                        <a:t>Test automation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Chạy trong CodeBuild tại pha 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endParaRPr lang="en-US" sz="20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5690800"/>
                  </a:ext>
                </a:extLst>
              </a:tr>
              <a:tr h="0">
                <a:tc>
                  <a:txBody>
                    <a:bodyPr/>
                    <a:lstStyle/>
                    <a:p>
                      <a:pPr>
                        <a:lnSpc>
                          <a:spcPct val="150000"/>
                        </a:lnSpc>
                        <a:buNone/>
                      </a:pPr>
                      <a:r>
                        <a:rPr lang="en-US" sz="2000">
                          <a:latin typeface="Arial" panose="020B0604020202020204" pitchFamily="34" charset="0"/>
                          <a:cs typeface="Arial" panose="020B0604020202020204" pitchFamily="34" charset="0"/>
                        </a:rPr>
                        <a:t>Coverage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Hiển </a:t>
                      </a:r>
                      <a:r>
                        <a:rPr lang="en-US" sz="2000" dirty="0" err="1">
                          <a:latin typeface="Arial" panose="020B0604020202020204" pitchFamily="34" charset="0"/>
                          <a:cs typeface="Arial" panose="020B0604020202020204" pitchFamily="34" charset="0"/>
                        </a:rPr>
                        <a:t>thị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bằng</a:t>
                      </a:r>
                      <a:r>
                        <a:rPr lang="en-US" sz="2000" dirty="0">
                          <a:latin typeface="Arial" panose="020B0604020202020204" pitchFamily="34" charset="0"/>
                          <a:cs typeface="Arial" panose="020B0604020202020204" pitchFamily="34" charset="0"/>
                        </a:rPr>
                        <a:t> “jest –coverage”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5846929"/>
                  </a:ext>
                </a:extLst>
              </a:tr>
            </a:tbl>
          </a:graphicData>
        </a:graphic>
      </p:graphicFrame>
    </p:spTree>
    <p:extLst>
      <p:ext uri="{BB962C8B-B14F-4D97-AF65-F5344CB8AC3E}">
        <p14:creationId xmlns:p14="http://schemas.microsoft.com/office/powerpoint/2010/main" val="388439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3013-54AF-3673-0B15-F0B82037DAA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200DE57-857C-A936-BBBB-182243EBB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280042A-88D4-1F3C-6BF4-FEF00C04E9DC}"/>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D085681-8729-5396-85B1-B030DB203776}"/>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sp>
        <p:nvSpPr>
          <p:cNvPr id="7" name="TextBox 6">
            <a:extLst>
              <a:ext uri="{FF2B5EF4-FFF2-40B4-BE49-F238E27FC236}">
                <a16:creationId xmlns:a16="http://schemas.microsoft.com/office/drawing/2014/main" id="{25BC4C21-DAC9-6161-9AB5-BE7E67FF4A60}"/>
              </a:ext>
            </a:extLst>
          </p:cNvPr>
          <p:cNvSpPr txBox="1"/>
          <p:nvPr/>
        </p:nvSpPr>
        <p:spPr>
          <a:xfrm>
            <a:off x="322118" y="1519995"/>
            <a:ext cx="95388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err="1">
                <a:solidFill>
                  <a:srgbClr val="0070C0"/>
                </a:solidFill>
                <a:latin typeface="Arial" panose="020B0604020202020204" pitchFamily="34" charset="0"/>
                <a:cs typeface="Arial" panose="020B0604020202020204" pitchFamily="34" charset="0"/>
              </a:rPr>
              <a:t>Kế</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hoạch</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triển</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khai</a:t>
            </a:r>
            <a:r>
              <a:rPr lang="en-US" sz="2800" b="1" dirty="0">
                <a:solidFill>
                  <a:srgbClr val="0070C0"/>
                </a:solidFill>
                <a:latin typeface="Arial" panose="020B0604020202020204" pitchFamily="34" charset="0"/>
                <a:cs typeface="Arial" panose="020B0604020202020204" pitchFamily="34" charset="0"/>
              </a:rPr>
              <a:t> &amp; rollback (Deployment Plan)</a:t>
            </a:r>
          </a:p>
        </p:txBody>
      </p:sp>
      <p:sp>
        <p:nvSpPr>
          <p:cNvPr id="3" name="TextBox 2">
            <a:extLst>
              <a:ext uri="{FF2B5EF4-FFF2-40B4-BE49-F238E27FC236}">
                <a16:creationId xmlns:a16="http://schemas.microsoft.com/office/drawing/2014/main" id="{353B8E62-4BA1-BCEF-221D-EC19E1A83456}"/>
              </a:ext>
            </a:extLst>
          </p:cNvPr>
          <p:cNvSpPr txBox="1"/>
          <p:nvPr/>
        </p:nvSpPr>
        <p:spPr>
          <a:xfrm>
            <a:off x="495878" y="2183955"/>
            <a:ext cx="11200243" cy="4455835"/>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US" sz="2400" b="1" dirty="0" err="1">
                <a:latin typeface="Arial" panose="020B0604020202020204" pitchFamily="34" charset="0"/>
                <a:cs typeface="Arial" panose="020B0604020202020204" pitchFamily="34" charset="0"/>
              </a:rPr>
              <a:t>Triển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khai</a:t>
            </a:r>
            <a:r>
              <a:rPr lang="en-US" sz="24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Push code </a:t>
            </a:r>
            <a:r>
              <a:rPr lang="en-US" sz="2400" dirty="0" err="1">
                <a:latin typeface="Arial" panose="020B0604020202020204" pitchFamily="34" charset="0"/>
                <a:cs typeface="Arial" panose="020B0604020202020204" pitchFamily="34" charset="0"/>
              </a:rPr>
              <a:t>lên</a:t>
            </a:r>
            <a:r>
              <a:rPr lang="en-US" sz="2400" dirty="0">
                <a:latin typeface="Arial" panose="020B0604020202020204" pitchFamily="34" charset="0"/>
                <a:cs typeface="Arial" panose="020B0604020202020204" pitchFamily="34" charset="0"/>
              </a:rPr>
              <a:t> GitHub → </a:t>
            </a:r>
            <a:r>
              <a:rPr lang="en-US" sz="2400" dirty="0" err="1">
                <a:latin typeface="Arial" panose="020B0604020202020204" pitchFamily="34" charset="0"/>
                <a:cs typeface="Arial" panose="020B0604020202020204" pitchFamily="34" charset="0"/>
              </a:rPr>
              <a:t>CodePipeline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kích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hoạt</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CodeBuild</a:t>
            </a:r>
            <a:r>
              <a:rPr lang="en-US" sz="2400" dirty="0">
                <a:latin typeface="Arial" panose="020B0604020202020204" pitchFamily="34" charset="0"/>
                <a:cs typeface="Arial" panose="020B0604020202020204" pitchFamily="34" charset="0"/>
              </a:rPr>
              <a:t> test &amp; deploy Lambda → API Gateway </a:t>
            </a:r>
            <a:r>
              <a:rPr lang="en-US" sz="2400" dirty="0" err="1">
                <a:latin typeface="Arial" panose="020B0604020202020204" pitchFamily="34" charset="0"/>
                <a:cs typeface="Arial" panose="020B0604020202020204" pitchFamily="34" charset="0"/>
              </a:rPr>
              <a:t>cập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endParaRPr lang="en-US" sz="2400" dirty="0">
              <a:latin typeface="Arial" panose="020B0604020202020204" pitchFamily="34" charset="0"/>
              <a:cs typeface="Arial" panose="020B0604020202020204" pitchFamily="34" charset="0"/>
            </a:endParaRPr>
          </a:p>
          <a:p>
            <a:pPr algn="just">
              <a:lnSpc>
                <a:spcPct val="150000"/>
              </a:lnSpc>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b="1" dirty="0">
                <a:latin typeface="Arial" panose="020B0604020202020204" pitchFamily="34" charset="0"/>
                <a:cs typeface="Arial" panose="020B0604020202020204" pitchFamily="34" charset="0"/>
              </a:rPr>
              <a:t>Rollback</a:t>
            </a:r>
            <a:r>
              <a:rPr lang="vi-VN" sz="24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Ø"/>
            </a:pPr>
            <a:r>
              <a:rPr lang="vi-VN" sz="2400" dirty="0">
                <a:latin typeface="Arial" panose="020B0604020202020204" pitchFamily="34" charset="0"/>
                <a:cs typeface="Arial" panose="020B0604020202020204" pitchFamily="34" charset="0"/>
              </a:rPr>
              <a:t>Nếu test lỗi → pipeline dừng tại bước</a:t>
            </a:r>
            <a:r>
              <a:rPr lang="en-US" sz="2400" dirty="0">
                <a:latin typeface="Arial" panose="020B0604020202020204" pitchFamily="34" charset="0"/>
                <a:cs typeface="Arial" panose="020B0604020202020204" pitchFamily="34" charset="0"/>
              </a:rPr>
              <a:t> build</a:t>
            </a:r>
            <a:endParaRPr lang="vi-VN" sz="24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Ø"/>
            </a:pPr>
            <a:r>
              <a:rPr lang="vi-VN" sz="2400" dirty="0">
                <a:latin typeface="Arial" panose="020B0604020202020204" pitchFamily="34" charset="0"/>
                <a:cs typeface="Arial" panose="020B0604020202020204" pitchFamily="34" charset="0"/>
              </a:rPr>
              <a:t>Nếu deploy lỗi → giữ nguyên Lambda version trước đó (bằng alias hoặc manual restore)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939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C29A-C8EA-73F3-0549-A314CDF3B2D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16CCBD8-8BBA-BE27-CDDB-D21BCAD7C5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F7528DC-AEC9-DB65-9686-157A59856868}"/>
              </a:ext>
            </a:extLst>
          </p:cNvPr>
          <p:cNvSpPr/>
          <p:nvPr/>
        </p:nvSpPr>
        <p:spPr>
          <a:xfrm>
            <a:off x="6390410" y="218210"/>
            <a:ext cx="5801592"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D4B35C-5E2B-6ED6-508C-5A69A083DF96}"/>
              </a:ext>
            </a:extLst>
          </p:cNvPr>
          <p:cNvSpPr txBox="1"/>
          <p:nvPr/>
        </p:nvSpPr>
        <p:spPr>
          <a:xfrm>
            <a:off x="6452754" y="410188"/>
            <a:ext cx="681643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Technical Implementation</a:t>
            </a:r>
          </a:p>
        </p:txBody>
      </p:sp>
      <p:sp>
        <p:nvSpPr>
          <p:cNvPr id="7" name="TextBox 6">
            <a:extLst>
              <a:ext uri="{FF2B5EF4-FFF2-40B4-BE49-F238E27FC236}">
                <a16:creationId xmlns:a16="http://schemas.microsoft.com/office/drawing/2014/main" id="{951AC899-3FD5-1E29-6DBF-8A64A02648B7}"/>
              </a:ext>
            </a:extLst>
          </p:cNvPr>
          <p:cNvSpPr txBox="1"/>
          <p:nvPr/>
        </p:nvSpPr>
        <p:spPr>
          <a:xfrm>
            <a:off x="244186" y="1440476"/>
            <a:ext cx="8515350"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Quản </a:t>
            </a:r>
            <a:r>
              <a:rPr lang="en-US" sz="2800" b="1" dirty="0" err="1">
                <a:solidFill>
                  <a:srgbClr val="0070C0"/>
                </a:solidFill>
                <a:latin typeface="Arial" panose="020B0604020202020204" pitchFamily="34" charset="0"/>
                <a:cs typeface="Arial" panose="020B0604020202020204" pitchFamily="34" charset="0"/>
              </a:rPr>
              <a:t>lý</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cấu</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hình</a:t>
            </a:r>
            <a:r>
              <a:rPr lang="en-US" sz="2800" b="1" dirty="0">
                <a:solidFill>
                  <a:srgbClr val="0070C0"/>
                </a:solidFill>
                <a:latin typeface="Arial" panose="020B0604020202020204" pitchFamily="34" charset="0"/>
                <a:cs typeface="Arial" panose="020B0604020202020204" pitchFamily="34" charset="0"/>
              </a:rPr>
              <a:t> (Configuration Management)</a:t>
            </a:r>
          </a:p>
        </p:txBody>
      </p:sp>
      <p:sp>
        <p:nvSpPr>
          <p:cNvPr id="3" name="TextBox 2">
            <a:extLst>
              <a:ext uri="{FF2B5EF4-FFF2-40B4-BE49-F238E27FC236}">
                <a16:creationId xmlns:a16="http://schemas.microsoft.com/office/drawing/2014/main" id="{A743219B-F3E3-6286-0792-2D2A9EB77D20}"/>
              </a:ext>
            </a:extLst>
          </p:cNvPr>
          <p:cNvSpPr txBox="1"/>
          <p:nvPr/>
        </p:nvSpPr>
        <p:spPr>
          <a:xfrm>
            <a:off x="442433" y="1963696"/>
            <a:ext cx="11505381" cy="5113644"/>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b="1" dirty="0">
                <a:latin typeface="Arial" panose="020B0604020202020204" pitchFamily="34" charset="0"/>
                <a:cs typeface="Arial" panose="020B0604020202020204" pitchFamily="34" charset="0"/>
              </a:rPr>
              <a:t>Environment: </a:t>
            </a:r>
            <a:r>
              <a:rPr lang="en-US" sz="2000" dirty="0">
                <a:latin typeface="Arial" panose="020B0604020202020204" pitchFamily="34" charset="0"/>
                <a:cs typeface="Arial" panose="020B0604020202020204" pitchFamily="34" charset="0"/>
              </a:rPr>
              <a:t>.env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build process qua </a:t>
            </a:r>
            <a:r>
              <a:rPr lang="en-US" sz="2000" dirty="0" err="1">
                <a:latin typeface="Arial" panose="020B0604020202020204" pitchFamily="34" charset="0"/>
                <a:cs typeface="Arial" panose="020B0604020202020204" pitchFamily="34" charset="0"/>
              </a:rPr>
              <a:t>dotenv</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commit </a:t>
            </a:r>
            <a:r>
              <a:rPr lang="en-US" sz="2000" dirty="0" err="1">
                <a:latin typeface="Arial" panose="020B0604020202020204" pitchFamily="34" charset="0"/>
                <a:cs typeface="Arial" panose="020B0604020202020204" pitchFamily="34" charset="0"/>
              </a:rPr>
              <a:t>vào</a:t>
            </a:r>
            <a:r>
              <a:rPr lang="en-US" sz="2000" dirty="0">
                <a:latin typeface="Arial" panose="020B0604020202020204" pitchFamily="34" charset="0"/>
                <a:cs typeface="Arial" panose="020B0604020202020204" pitchFamily="34" charset="0"/>
              </a:rPr>
              <a:t> Git)</a:t>
            </a:r>
          </a:p>
          <a:p>
            <a:pPr marL="342900" indent="-342900">
              <a:lnSpc>
                <a:spcPct val="150000"/>
              </a:lnSpc>
              <a:buFont typeface="Wingdings" panose="05000000000000000000" pitchFamily="2" charset="2"/>
              <a:buChar char="§"/>
            </a:pPr>
            <a:r>
              <a:rPr lang="en-US" sz="2000" b="1" dirty="0">
                <a:latin typeface="Arial" panose="020B0604020202020204" pitchFamily="34" charset="0"/>
                <a:cs typeface="Arial" panose="020B0604020202020204" pitchFamily="34" charset="0"/>
              </a:rPr>
              <a:t>Lambda Handler: </a:t>
            </a:r>
            <a:r>
              <a:rPr lang="vi-VN" sz="2000" dirty="0">
                <a:latin typeface="Arial" panose="020B0604020202020204" pitchFamily="34" charset="0"/>
                <a:cs typeface="Arial" panose="020B0604020202020204" pitchFamily="34" charset="0"/>
              </a:rPr>
              <a:t>Được định nghĩa rõ theo file</a:t>
            </a:r>
            <a:r>
              <a:rPr lang="en-US" sz="2000" dirty="0">
                <a:latin typeface="Arial" panose="020B0604020202020204" pitchFamily="34" charset="0"/>
                <a:cs typeface="Arial" panose="020B0604020202020204" pitchFamily="34" charset="0"/>
              </a:rPr>
              <a:t> lambda/</a:t>
            </a:r>
            <a:r>
              <a:rPr lang="en-US" sz="2000" dirty="0" err="1">
                <a:latin typeface="Arial" panose="020B0604020202020204" pitchFamily="34" charset="0"/>
                <a:cs typeface="Arial" panose="020B0604020202020204" pitchFamily="34" charset="0"/>
              </a:rPr>
              <a:t>handler.ts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lấy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từ</a:t>
            </a:r>
            <a:r>
              <a:rPr lang="en-US" sz="2000" dirty="0">
                <a:latin typeface="Arial" panose="020B0604020202020204" pitchFamily="34" charset="0"/>
                <a:cs typeface="Arial" panose="020B0604020202020204" pitchFamily="34" charset="0"/>
              </a:rPr>
              <a:t> env</a:t>
            </a:r>
          </a:p>
          <a:p>
            <a:pPr marL="342900" indent="-342900">
              <a:lnSpc>
                <a:spcPct val="150000"/>
              </a:lnSpc>
              <a:buFont typeface="Wingdings" panose="05000000000000000000" pitchFamily="2" charset="2"/>
              <a:buChar char="§"/>
            </a:pPr>
            <a:r>
              <a:rPr lang="en-US" sz="2000" b="1" dirty="0">
                <a:latin typeface="Arial" panose="020B0604020202020204" pitchFamily="34" charset="0"/>
                <a:cs typeface="Arial" panose="020B0604020202020204" pitchFamily="34" charset="0"/>
              </a:rPr>
              <a:t>IAM Policy: </a:t>
            </a:r>
            <a:r>
              <a:rPr lang="en-US" sz="2000" dirty="0">
                <a:latin typeface="Arial" panose="020B0604020202020204" pitchFamily="34" charset="0"/>
                <a:cs typeface="Arial" panose="020B0604020202020204" pitchFamily="34" charset="0"/>
              </a:rPr>
              <a:t>Quản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trung</a:t>
            </a:r>
            <a:r>
              <a:rPr lang="en-US" sz="2000" dirty="0">
                <a:latin typeface="Arial" panose="020B0604020202020204" pitchFamily="34" charset="0"/>
                <a:cs typeface="Arial" panose="020B0604020202020204" pitchFamily="34" charset="0"/>
              </a:rPr>
              <a:t> qua CloudFormation </a:t>
            </a:r>
            <a:r>
              <a:rPr lang="en-US" sz="2000" dirty="0" err="1">
                <a:latin typeface="Arial" panose="020B0604020202020204" pitchFamily="34" charset="0"/>
                <a:cs typeface="Arial" panose="020B0604020202020204" pitchFamily="34" charset="0"/>
              </a:rPr>
              <a:t>hoặc</a:t>
            </a:r>
            <a:r>
              <a:rPr lang="en-US" sz="2000" dirty="0">
                <a:latin typeface="Arial" panose="020B0604020202020204" pitchFamily="34" charset="0"/>
                <a:cs typeface="Arial" panose="020B0604020202020204" pitchFamily="34" charset="0"/>
              </a:rPr>
              <a:t> AWS Console</a:t>
            </a:r>
          </a:p>
          <a:p>
            <a:pPr marL="342900" indent="-342900">
              <a:lnSpc>
                <a:spcPct val="150000"/>
              </a:lnSpc>
              <a:buFont typeface="Wingdings" panose="05000000000000000000" pitchFamily="2" charset="2"/>
              <a:buChar char="§"/>
            </a:pPr>
            <a:r>
              <a:rPr lang="en-US" sz="2000" b="1" dirty="0">
                <a:latin typeface="Arial" panose="020B0604020202020204" pitchFamily="34" charset="0"/>
                <a:cs typeface="Arial" panose="020B0604020202020204" pitchFamily="34" charset="0"/>
              </a:rPr>
              <a:t>Code structure </a:t>
            </a:r>
            <a:r>
              <a:rPr lang="en-US" sz="2000" b="1" dirty="0" err="1">
                <a:latin typeface="Arial" panose="020B0604020202020204" pitchFamily="34" charset="0"/>
                <a:cs typeface="Arial" panose="020B0604020202020204" pitchFamily="34" charset="0"/>
              </a:rPr>
              <a:t>chuẩn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hóa</a:t>
            </a:r>
            <a:r>
              <a:rPr lang="en-US" sz="2000" b="1" dirty="0">
                <a:latin typeface="Arial" panose="020B0604020202020204" pitchFamily="34" charset="0"/>
                <a:cs typeface="Arial" panose="020B0604020202020204" pitchFamily="34" charset="0"/>
              </a:rPr>
              <a:t>:</a:t>
            </a:r>
          </a:p>
          <a:p>
            <a:pPr lvl="1">
              <a:lnSpc>
                <a:spcPct val="150000"/>
              </a:lnSpc>
            </a:pP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src</a:t>
            </a:r>
            <a:r>
              <a:rPr lang="en-US" sz="2000" dirty="0">
                <a:latin typeface="Arial" panose="020B0604020202020204" pitchFamily="34" charset="0"/>
                <a:cs typeface="Arial" panose="020B0604020202020204" pitchFamily="34" charset="0"/>
              </a:rPr>
              <a:t>(root)</a:t>
            </a:r>
          </a:p>
          <a:p>
            <a:pPr lvl="1">
              <a:lnSpc>
                <a:spcPct val="150000"/>
              </a:lnSpc>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openapi</a:t>
            </a:r>
            <a:r>
              <a:rPr lang="en-US" sz="2000" dirty="0">
                <a:latin typeface="Arial" panose="020B0604020202020204" pitchFamily="34" charset="0"/>
                <a:cs typeface="Arial" panose="020B0604020202020204" pitchFamily="34" charset="0"/>
              </a:rPr>
              <a:t>           		← Spec file</a:t>
            </a:r>
          </a:p>
          <a:p>
            <a:pPr lvl="1">
              <a:lnSpc>
                <a:spcPct val="150000"/>
              </a:lnSpc>
            </a:pPr>
            <a:r>
              <a:rPr lang="en-US" sz="2000" dirty="0">
                <a:latin typeface="Arial" panose="020B0604020202020204" pitchFamily="34" charset="0"/>
                <a:cs typeface="Arial" panose="020B0604020202020204" pitchFamily="34" charset="0"/>
              </a:rPr>
              <a:t>  /generated-client 		← </a:t>
            </a: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tạo</a:t>
            </a:r>
            <a:endParaRPr lang="en-US" sz="2000" dirty="0">
              <a:latin typeface="Arial" panose="020B0604020202020204" pitchFamily="34" charset="0"/>
              <a:cs typeface="Arial" panose="020B0604020202020204" pitchFamily="34" charset="0"/>
            </a:endParaRPr>
          </a:p>
          <a:p>
            <a:pPr lvl="1">
              <a:lnSpc>
                <a:spcPct val="150000"/>
              </a:lnSpc>
            </a:pPr>
            <a:r>
              <a:rPr lang="en-US" sz="2000" dirty="0">
                <a:latin typeface="Arial" panose="020B0604020202020204" pitchFamily="34" charset="0"/>
                <a:cs typeface="Arial" panose="020B0604020202020204" pitchFamily="34" charset="0"/>
              </a:rPr>
              <a:t>  /generated-server  		← </a:t>
            </a: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tạo</a:t>
            </a:r>
            <a:endParaRPr lang="en-US" sz="2000" dirty="0">
              <a:latin typeface="Arial" panose="020B0604020202020204" pitchFamily="34" charset="0"/>
              <a:cs typeface="Arial" panose="020B0604020202020204" pitchFamily="34" charset="0"/>
            </a:endParaRPr>
          </a:p>
          <a:p>
            <a:pPr lvl="1">
              <a:lnSpc>
                <a:spcPct val="150000"/>
              </a:lnSpc>
            </a:pPr>
            <a:r>
              <a:rPr lang="en-US" sz="2000" dirty="0">
                <a:latin typeface="Arial" panose="020B0604020202020204" pitchFamily="34" charset="0"/>
                <a:cs typeface="Arial" panose="020B0604020202020204" pitchFamily="34" charset="0"/>
              </a:rPr>
              <a:t>  /lambda            		← Lambda handler</a:t>
            </a:r>
          </a:p>
          <a:p>
            <a:pPr lvl="1">
              <a:lnSpc>
                <a:spcPct val="150000"/>
              </a:lnSpc>
            </a:pPr>
            <a:r>
              <a:rPr lang="en-US" sz="2000" dirty="0">
                <a:latin typeface="Arial" panose="020B0604020202020204" pitchFamily="34" charset="0"/>
                <a:cs typeface="Arial" panose="020B0604020202020204" pitchFamily="34" charset="0"/>
              </a:rPr>
              <a:t>  /test              		← Unit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API tests</a:t>
            </a:r>
          </a:p>
          <a:p>
            <a:pPr>
              <a:lnSpc>
                <a:spcPct val="1500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5701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594A-08B9-512B-14FF-3E5950F779F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830F1A7-BE81-214B-B71D-0AC1276EA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4307101-7813-61B6-89AD-C826BB4D1618}"/>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CCC6BC-0B9E-CB9A-F713-4846F048BBDC}"/>
              </a:ext>
            </a:extLst>
          </p:cNvPr>
          <p:cNvSpPr txBox="1"/>
          <p:nvPr/>
        </p:nvSpPr>
        <p:spPr>
          <a:xfrm>
            <a:off x="7200899"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Timeline &amp; Milestones</a:t>
            </a:r>
          </a:p>
        </p:txBody>
      </p:sp>
      <p:sp>
        <p:nvSpPr>
          <p:cNvPr id="5" name="TextBox 4">
            <a:extLst>
              <a:ext uri="{FF2B5EF4-FFF2-40B4-BE49-F238E27FC236}">
                <a16:creationId xmlns:a16="http://schemas.microsoft.com/office/drawing/2014/main" id="{3097A10E-C030-D9BD-E334-700A27E5FA51}"/>
              </a:ext>
            </a:extLst>
          </p:cNvPr>
          <p:cNvSpPr txBox="1"/>
          <p:nvPr/>
        </p:nvSpPr>
        <p:spPr>
          <a:xfrm>
            <a:off x="805296" y="1509329"/>
            <a:ext cx="6182590"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err="1">
                <a:solidFill>
                  <a:srgbClr val="0070C0"/>
                </a:solidFill>
                <a:latin typeface="Arial" panose="020B0604020202020204" pitchFamily="34" charset="0"/>
                <a:cs typeface="Arial" panose="020B0604020202020204" pitchFamily="34" charset="0"/>
              </a:rPr>
              <a:t>Tổng</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quan</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tiến</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độ</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dự</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án</a:t>
            </a:r>
            <a:endParaRPr lang="en-US" sz="2800" b="1" dirty="0">
              <a:solidFill>
                <a:srgbClr val="0070C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DC3BE5B8-3347-E474-6D59-5C9CAEDA2153}"/>
              </a:ext>
            </a:extLst>
          </p:cNvPr>
          <p:cNvGraphicFramePr>
            <a:graphicFrameLocks noGrp="1"/>
          </p:cNvGraphicFramePr>
          <p:nvPr>
            <p:extLst>
              <p:ext uri="{D42A27DB-BD31-4B8C-83A1-F6EECF244321}">
                <p14:modId xmlns:p14="http://schemas.microsoft.com/office/powerpoint/2010/main" val="1649248786"/>
              </p:ext>
            </p:extLst>
          </p:nvPr>
        </p:nvGraphicFramePr>
        <p:xfrm>
          <a:off x="381975" y="2032549"/>
          <a:ext cx="11536397" cy="4695153"/>
        </p:xfrm>
        <a:graphic>
          <a:graphicData uri="http://schemas.openxmlformats.org/drawingml/2006/table">
            <a:tbl>
              <a:tblPr/>
              <a:tblGrid>
                <a:gridCol w="923905">
                  <a:extLst>
                    <a:ext uri="{9D8B030D-6E8A-4147-A177-3AD203B41FA5}">
                      <a16:colId xmlns:a16="http://schemas.microsoft.com/office/drawing/2014/main" val="123077227"/>
                    </a:ext>
                  </a:extLst>
                </a:gridCol>
                <a:gridCol w="4766208">
                  <a:extLst>
                    <a:ext uri="{9D8B030D-6E8A-4147-A177-3AD203B41FA5}">
                      <a16:colId xmlns:a16="http://schemas.microsoft.com/office/drawing/2014/main" val="2444541588"/>
                    </a:ext>
                  </a:extLst>
                </a:gridCol>
                <a:gridCol w="5846284">
                  <a:extLst>
                    <a:ext uri="{9D8B030D-6E8A-4147-A177-3AD203B41FA5}">
                      <a16:colId xmlns:a16="http://schemas.microsoft.com/office/drawing/2014/main" val="1163156988"/>
                    </a:ext>
                  </a:extLst>
                </a:gridCol>
              </a:tblGrid>
              <a:tr h="322321">
                <a:tc>
                  <a:txBody>
                    <a:bodyPr/>
                    <a:lstStyle/>
                    <a:p>
                      <a:pPr algn="ctr">
                        <a:lnSpc>
                          <a:spcPct val="150000"/>
                        </a:lnSpc>
                        <a:buNone/>
                      </a:pPr>
                      <a:r>
                        <a:rPr lang="en-US" sz="2000" b="0" dirty="0" err="1">
                          <a:latin typeface="Arial" panose="020B0604020202020204" pitchFamily="34" charset="0"/>
                          <a:cs typeface="Arial" panose="020B0604020202020204" pitchFamily="34" charset="0"/>
                        </a:rPr>
                        <a:t>Ngày</a:t>
                      </a:r>
                      <a:endParaRPr lang="en-US" sz="2000" b="0" dirty="0">
                        <a:latin typeface="Arial" panose="020B0604020202020204" pitchFamily="34" charset="0"/>
                        <a:cs typeface="Arial" panose="020B0604020202020204" pitchFamily="34"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b="0">
                          <a:latin typeface="Arial" panose="020B0604020202020204" pitchFamily="34" charset="0"/>
                          <a:cs typeface="Arial" panose="020B0604020202020204" pitchFamily="34" charset="0"/>
                        </a:rPr>
                        <a:t>Milestone chính</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vi-VN" sz="2000" b="0" dirty="0">
                          <a:latin typeface="Arial" panose="020B0604020202020204" pitchFamily="34" charset="0"/>
                          <a:cs typeface="Arial" panose="020B0604020202020204" pitchFamily="34" charset="0"/>
                        </a:rPr>
                        <a:t>Kết quả đạt được</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59392355"/>
                  </a:ext>
                </a:extLst>
              </a:tr>
              <a:tr h="322321">
                <a:tc>
                  <a:txBody>
                    <a:bodyPr/>
                    <a:lstStyle/>
                    <a:p>
                      <a:pPr algn="ctr">
                        <a:lnSpc>
                          <a:spcPct val="150000"/>
                        </a:lnSpc>
                        <a:buNone/>
                      </a:pPr>
                      <a:r>
                        <a:rPr lang="en-US" sz="2000" b="0" dirty="0">
                          <a:latin typeface="Arial" panose="020B0604020202020204" pitchFamily="34" charset="0"/>
                          <a:cs typeface="Arial" panose="020B0604020202020204" pitchFamily="34" charset="0"/>
                        </a:rPr>
                        <a:t>1</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err="1">
                          <a:latin typeface="Arial" panose="020B0604020202020204" pitchFamily="34" charset="0"/>
                          <a:cs typeface="Arial" panose="020B0604020202020204" pitchFamily="34" charset="0"/>
                        </a:rPr>
                        <a:t>Thiết</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kế</a:t>
                      </a:r>
                      <a:r>
                        <a:rPr lang="en-US" sz="2000" b="0" dirty="0">
                          <a:latin typeface="Arial" panose="020B0604020202020204" pitchFamily="34" charset="0"/>
                          <a:cs typeface="Arial" panose="020B0604020202020204" pitchFamily="34" charset="0"/>
                        </a:rPr>
                        <a:t> API Spec</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err="1">
                          <a:latin typeface="Arial" panose="020B0604020202020204" pitchFamily="34" charset="0"/>
                          <a:cs typeface="Arial" panose="020B0604020202020204" pitchFamily="34" charset="0"/>
                        </a:rPr>
                        <a:t>Viết</a:t>
                      </a:r>
                      <a:r>
                        <a:rPr lang="en-US" sz="2000" b="0" dirty="0">
                          <a:latin typeface="Arial" panose="020B0604020202020204" pitchFamily="34" charset="0"/>
                          <a:cs typeface="Arial" panose="020B0604020202020204" pitchFamily="34" charset="0"/>
                        </a:rPr>
                        <a:t> file </a:t>
                      </a:r>
                      <a:r>
                        <a:rPr lang="en-US" sz="2000" b="0" dirty="0" err="1">
                          <a:latin typeface="Arial" panose="020B0604020202020204" pitchFamily="34" charset="0"/>
                          <a:cs typeface="Arial" panose="020B0604020202020204" pitchFamily="34" charset="0"/>
                        </a:rPr>
                        <a:t>api.yaml</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theo</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tiêu</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chuẩn</a:t>
                      </a:r>
                      <a:endParaRPr lang="en-US" sz="2000" b="0" dirty="0">
                        <a:latin typeface="Arial" panose="020B0604020202020204" pitchFamily="34" charset="0"/>
                        <a:cs typeface="Arial" panose="020B0604020202020204" pitchFamily="34"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665070"/>
                  </a:ext>
                </a:extLst>
              </a:tr>
              <a:tr h="564062">
                <a:tc>
                  <a:txBody>
                    <a:bodyPr/>
                    <a:lstStyle/>
                    <a:p>
                      <a:pPr algn="ctr">
                        <a:lnSpc>
                          <a:spcPct val="150000"/>
                        </a:lnSpc>
                        <a:buNone/>
                      </a:pPr>
                      <a:r>
                        <a:rPr lang="en-US" sz="2000" b="0" dirty="0">
                          <a:latin typeface="Arial" panose="020B0604020202020204" pitchFamily="34" charset="0"/>
                          <a:cs typeface="Arial" panose="020B0604020202020204" pitchFamily="34" charset="0"/>
                        </a:rPr>
                        <a:t>2</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a:latin typeface="Arial" panose="020B0604020202020204" pitchFamily="34" charset="0"/>
                          <a:cs typeface="Arial" panose="020B0604020202020204" pitchFamily="34" charset="0"/>
                        </a:rPr>
                        <a:t>Code generation &amp; </a:t>
                      </a:r>
                      <a:r>
                        <a:rPr lang="en-US" sz="2000" b="0" dirty="0" err="1">
                          <a:latin typeface="Arial" panose="020B0604020202020204" pitchFamily="34" charset="0"/>
                          <a:cs typeface="Arial" panose="020B0604020202020204" pitchFamily="34" charset="0"/>
                        </a:rPr>
                        <a:t>triển</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khai</a:t>
                      </a:r>
                      <a:r>
                        <a:rPr lang="en-US" sz="2000" b="0" dirty="0">
                          <a:latin typeface="Arial" panose="020B0604020202020204" pitchFamily="34" charset="0"/>
                          <a:cs typeface="Arial" panose="020B0604020202020204" pitchFamily="34" charset="0"/>
                        </a:rPr>
                        <a:t> Lambda</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a:latin typeface="Arial" panose="020B0604020202020204" pitchFamily="34" charset="0"/>
                          <a:cs typeface="Arial" panose="020B0604020202020204" pitchFamily="34" charset="0"/>
                        </a:rPr>
                        <a:t>Dùng OpenAPI Generator cho client/server</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3440199"/>
                  </a:ext>
                </a:extLst>
              </a:tr>
              <a:tr h="564062">
                <a:tc>
                  <a:txBody>
                    <a:bodyPr/>
                    <a:lstStyle/>
                    <a:p>
                      <a:pPr algn="ctr">
                        <a:lnSpc>
                          <a:spcPct val="150000"/>
                        </a:lnSpc>
                        <a:buNone/>
                      </a:pPr>
                      <a:r>
                        <a:rPr lang="en-US" sz="2000" b="0" dirty="0">
                          <a:latin typeface="Arial" panose="020B0604020202020204" pitchFamily="34" charset="0"/>
                          <a:cs typeface="Arial" panose="020B0604020202020204" pitchFamily="34" charset="0"/>
                        </a:rPr>
                        <a:t>3</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a:latin typeface="Arial" panose="020B0604020202020204" pitchFamily="34" charset="0"/>
                          <a:cs typeface="Arial" panose="020B0604020202020204" pitchFamily="34" charset="0"/>
                        </a:rPr>
                        <a:t>Testing automation + Jest + </a:t>
                      </a:r>
                      <a:r>
                        <a:rPr lang="en-US" sz="2000" b="0" dirty="0" err="1">
                          <a:latin typeface="Arial" panose="020B0604020202020204" pitchFamily="34" charset="0"/>
                          <a:cs typeface="Arial" panose="020B0604020202020204" pitchFamily="34" charset="0"/>
                        </a:rPr>
                        <a:t>CodeBuild</a:t>
                      </a:r>
                      <a:endParaRPr lang="en-US" sz="2000" b="0" dirty="0">
                        <a:latin typeface="Arial" panose="020B0604020202020204" pitchFamily="34" charset="0"/>
                        <a:cs typeface="Arial" panose="020B0604020202020204" pitchFamily="34"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a:latin typeface="Arial" panose="020B0604020202020204" pitchFamily="34" charset="0"/>
                          <a:cs typeface="Arial" panose="020B0604020202020204" pitchFamily="34" charset="0"/>
                        </a:rPr>
                        <a:t>Thiết lập test API &amp; coverage</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1364378"/>
                  </a:ext>
                </a:extLst>
              </a:tr>
              <a:tr h="322321">
                <a:tc>
                  <a:txBody>
                    <a:bodyPr/>
                    <a:lstStyle/>
                    <a:p>
                      <a:pPr algn="ctr">
                        <a:lnSpc>
                          <a:spcPct val="150000"/>
                        </a:lnSpc>
                        <a:buNone/>
                      </a:pPr>
                      <a:r>
                        <a:rPr lang="en-US" sz="2000" b="0" dirty="0">
                          <a:latin typeface="Arial" panose="020B0604020202020204" pitchFamily="34" charset="0"/>
                          <a:cs typeface="Arial" panose="020B0604020202020204" pitchFamily="34" charset="0"/>
                        </a:rPr>
                        <a:t>4</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err="1">
                          <a:latin typeface="Arial" panose="020B0604020202020204" pitchFamily="34" charset="0"/>
                          <a:cs typeface="Arial" panose="020B0604020202020204" pitchFamily="34" charset="0"/>
                        </a:rPr>
                        <a:t>Tích</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hợp</a:t>
                      </a:r>
                      <a:r>
                        <a:rPr lang="en-US" sz="2000" b="0" dirty="0">
                          <a:latin typeface="Arial" panose="020B0604020202020204" pitchFamily="34" charset="0"/>
                          <a:cs typeface="Arial" panose="020B0604020202020204" pitchFamily="34" charset="0"/>
                        </a:rPr>
                        <a:t> CloudWatch + IAM Role</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a:latin typeface="Arial" panose="020B0604020202020204" pitchFamily="34" charset="0"/>
                          <a:cs typeface="Arial" panose="020B0604020202020204" pitchFamily="34" charset="0"/>
                        </a:rPr>
                        <a:t>CloudWatch Logs, X-Ray, Alarm</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193255"/>
                  </a:ext>
                </a:extLst>
              </a:tr>
              <a:tr h="564062">
                <a:tc>
                  <a:txBody>
                    <a:bodyPr/>
                    <a:lstStyle/>
                    <a:p>
                      <a:pPr algn="ctr">
                        <a:lnSpc>
                          <a:spcPct val="150000"/>
                        </a:lnSpc>
                        <a:buNone/>
                      </a:pPr>
                      <a:r>
                        <a:rPr lang="en-US" sz="2000" b="0" dirty="0">
                          <a:latin typeface="Arial" panose="020B0604020202020204" pitchFamily="34" charset="0"/>
                          <a:cs typeface="Arial" panose="020B0604020202020204" pitchFamily="34" charset="0"/>
                        </a:rPr>
                        <a:t>5</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rtl="0" eaLnBrk="1" fontAlgn="ctr" latinLnBrk="0" hangingPunct="1">
                        <a:lnSpc>
                          <a:spcPct val="150000"/>
                        </a:lnSpc>
                        <a:buNone/>
                      </a:pPr>
                      <a:r>
                        <a:rPr lang="vi-VN" sz="2000" b="0" i="0" u="none" strike="noStrike" kern="1200">
                          <a:solidFill>
                            <a:srgbClr val="000000"/>
                          </a:solidFill>
                          <a:effectLst/>
                          <a:latin typeface="Arial" panose="020B0604020202020204" pitchFamily="34" charset="0"/>
                          <a:cs typeface="Arial" panose="020B0604020202020204" pitchFamily="34" charset="0"/>
                        </a:rPr>
                        <a:t>Hoàn tất chất lượng: versioning, quality gates, logging</a:t>
                      </a:r>
                      <a:endParaRPr lang="vi-VN" sz="1800" b="0" i="0" u="none" strike="noStrike">
                        <a:effectLst/>
                        <a:latin typeface="Arial" panose="020B0604020202020204" pitchFamily="34" charset="0"/>
                      </a:endParaRPr>
                    </a:p>
                  </a:txBody>
                  <a:tcPr marL="80518" marR="80518" marT="40259" marB="402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rtl="0" eaLnBrk="1" fontAlgn="ctr" latinLnBrk="0" hangingPunct="1">
                        <a:lnSpc>
                          <a:spcPct val="150000"/>
                        </a:lnSpc>
                        <a:buNone/>
                      </a:pPr>
                      <a:r>
                        <a:rPr lang="en-US" sz="2000" b="0" i="0" u="none" strike="noStrike" kern="1200" dirty="0" err="1">
                          <a:solidFill>
                            <a:srgbClr val="000000"/>
                          </a:solidFill>
                          <a:effectLst/>
                          <a:latin typeface="Arial" panose="020B0604020202020204" pitchFamily="34" charset="0"/>
                          <a:cs typeface="Arial" panose="020B0604020202020204" pitchFamily="34" charset="0"/>
                        </a:rPr>
                        <a:t>Thêm</a:t>
                      </a:r>
                      <a:r>
                        <a:rPr lang="en-US" sz="2000" b="0" i="0" u="none" strike="noStrike" kern="1200" dirty="0">
                          <a:solidFill>
                            <a:srgbClr val="000000"/>
                          </a:solidFill>
                          <a:effectLst/>
                          <a:latin typeface="Arial" panose="020B0604020202020204" pitchFamily="34" charset="0"/>
                          <a:cs typeface="Arial" panose="020B0604020202020204" pitchFamily="34" charset="0"/>
                        </a:rPr>
                        <a:t> /v1, </a:t>
                      </a:r>
                      <a:r>
                        <a:rPr lang="en-US" sz="2000" b="0" i="0" u="none" strike="noStrike" kern="1200" dirty="0" err="1">
                          <a:solidFill>
                            <a:srgbClr val="000000"/>
                          </a:solidFill>
                          <a:effectLst/>
                          <a:latin typeface="Arial" panose="020B0604020202020204" pitchFamily="34" charset="0"/>
                          <a:cs typeface="Arial" panose="020B0604020202020204" pitchFamily="34" charset="0"/>
                        </a:rPr>
                        <a:t>phân</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quyền</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rõ</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kiểm</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tra</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toàn</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diện</a:t>
                      </a:r>
                      <a:endParaRPr lang="en-US" sz="1800" b="0" i="0" u="none" strike="noStrike" dirty="0">
                        <a:effectLst/>
                        <a:latin typeface="Arial" panose="020B0604020202020204" pitchFamily="34" charset="0"/>
                      </a:endParaRPr>
                    </a:p>
                  </a:txBody>
                  <a:tcPr marL="80518" marR="80518" marT="40259" marB="402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0781116"/>
                  </a:ext>
                </a:extLst>
              </a:tr>
              <a:tr h="564062">
                <a:tc>
                  <a:txBody>
                    <a:bodyPr/>
                    <a:lstStyle/>
                    <a:p>
                      <a:pPr algn="ctr">
                        <a:lnSpc>
                          <a:spcPct val="150000"/>
                        </a:lnSpc>
                        <a:buNone/>
                      </a:pPr>
                      <a:r>
                        <a:rPr lang="en-US" sz="2000" b="0" dirty="0">
                          <a:latin typeface="Arial" panose="020B0604020202020204" pitchFamily="34" charset="0"/>
                          <a:cs typeface="Arial" panose="020B0604020202020204" pitchFamily="34" charset="0"/>
                        </a:rPr>
                        <a:t>6</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rtl="0" eaLnBrk="1" fontAlgn="ctr" latinLnBrk="0" hangingPunct="1">
                        <a:lnSpc>
                          <a:spcPct val="150000"/>
                        </a:lnSpc>
                        <a:buNone/>
                      </a:pPr>
                      <a:r>
                        <a:rPr lang="en-US" sz="2000" b="0" i="0" u="none" strike="noStrike" kern="1200">
                          <a:solidFill>
                            <a:srgbClr val="000000"/>
                          </a:solidFill>
                          <a:effectLst/>
                          <a:latin typeface="Arial" panose="020B0604020202020204" pitchFamily="34" charset="0"/>
                          <a:cs typeface="Arial" panose="020B0604020202020204" pitchFamily="34" charset="0"/>
                        </a:rPr>
                        <a:t>Tích hợp CodePipeline</a:t>
                      </a:r>
                      <a:endParaRPr lang="en-US" sz="1800" b="0" i="0" u="none" strike="noStrike">
                        <a:effectLst/>
                        <a:latin typeface="Arial" panose="020B0604020202020204" pitchFamily="34" charset="0"/>
                      </a:endParaRPr>
                    </a:p>
                  </a:txBody>
                  <a:tcPr marL="80518" marR="80518" marT="40259" marB="402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rtl="0" eaLnBrk="1" fontAlgn="ctr" latinLnBrk="0" hangingPunct="1">
                        <a:lnSpc>
                          <a:spcPct val="150000"/>
                        </a:lnSpc>
                        <a:buNone/>
                      </a:pPr>
                      <a:r>
                        <a:rPr lang="en-US" sz="2000" b="0" i="0" u="none" strike="noStrike" kern="1200" dirty="0" err="1">
                          <a:solidFill>
                            <a:srgbClr val="000000"/>
                          </a:solidFill>
                          <a:effectLst/>
                          <a:latin typeface="Arial" panose="020B0604020202020204" pitchFamily="34" charset="0"/>
                          <a:cs typeface="Arial" panose="020B0604020202020204" pitchFamily="34" charset="0"/>
                        </a:rPr>
                        <a:t>Kết</a:t>
                      </a:r>
                      <a:r>
                        <a:rPr lang="en-US" sz="2000" b="0" i="0" u="none" strike="noStrike" kern="1200" dirty="0">
                          <a:solidFill>
                            <a:srgbClr val="000000"/>
                          </a:solidFill>
                          <a:effectLst/>
                          <a:latin typeface="Arial" panose="020B0604020202020204" pitchFamily="34" charset="0"/>
                          <a:cs typeface="Arial" panose="020B0604020202020204" pitchFamily="34" charset="0"/>
                        </a:rPr>
                        <a:t> </a:t>
                      </a:r>
                      <a:r>
                        <a:rPr lang="en-US" sz="2000" b="0" i="0" u="none" strike="noStrike" kern="1200" dirty="0" err="1">
                          <a:solidFill>
                            <a:srgbClr val="000000"/>
                          </a:solidFill>
                          <a:effectLst/>
                          <a:latin typeface="Arial" panose="020B0604020202020204" pitchFamily="34" charset="0"/>
                          <a:cs typeface="Arial" panose="020B0604020202020204" pitchFamily="34" charset="0"/>
                        </a:rPr>
                        <a:t>nối</a:t>
                      </a:r>
                      <a:r>
                        <a:rPr lang="en-US" sz="2000" b="0" i="0" u="none" strike="noStrike" kern="1200" dirty="0">
                          <a:solidFill>
                            <a:srgbClr val="000000"/>
                          </a:solidFill>
                          <a:effectLst/>
                          <a:latin typeface="Arial" panose="020B0604020202020204" pitchFamily="34" charset="0"/>
                          <a:cs typeface="Arial" panose="020B0604020202020204" pitchFamily="34" charset="0"/>
                        </a:rPr>
                        <a:t> GitHub → </a:t>
                      </a:r>
                      <a:r>
                        <a:rPr lang="en-US" sz="2000" b="0" i="0" u="none" strike="noStrike" kern="1200" dirty="0" err="1">
                          <a:solidFill>
                            <a:srgbClr val="000000"/>
                          </a:solidFill>
                          <a:effectLst/>
                          <a:latin typeface="Arial" panose="020B0604020202020204" pitchFamily="34" charset="0"/>
                          <a:cs typeface="Arial" panose="020B0604020202020204" pitchFamily="34" charset="0"/>
                        </a:rPr>
                        <a:t>CodeBuild</a:t>
                      </a:r>
                      <a:r>
                        <a:rPr lang="en-US" sz="2000" b="0" i="0" u="none" strike="noStrike" kern="1200" dirty="0">
                          <a:solidFill>
                            <a:srgbClr val="000000"/>
                          </a:solidFill>
                          <a:effectLst/>
                          <a:latin typeface="Arial" panose="020B0604020202020204" pitchFamily="34" charset="0"/>
                          <a:cs typeface="Arial" panose="020B0604020202020204" pitchFamily="34" charset="0"/>
                        </a:rPr>
                        <a:t> → Lambda</a:t>
                      </a:r>
                      <a:endParaRPr lang="en-US" sz="1800" b="0" i="0" u="none" strike="noStrike" dirty="0">
                        <a:effectLst/>
                        <a:latin typeface="Arial" panose="020B0604020202020204" pitchFamily="34" charset="0"/>
                      </a:endParaRPr>
                    </a:p>
                  </a:txBody>
                  <a:tcPr marL="80518" marR="80518" marT="40259" marB="402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742891"/>
                  </a:ext>
                </a:extLst>
              </a:tr>
              <a:tr h="564062">
                <a:tc>
                  <a:txBody>
                    <a:bodyPr/>
                    <a:lstStyle/>
                    <a:p>
                      <a:pPr algn="ctr">
                        <a:lnSpc>
                          <a:spcPct val="150000"/>
                        </a:lnSpc>
                        <a:buNone/>
                      </a:pPr>
                      <a:r>
                        <a:rPr lang="en-US" sz="2000" b="0" dirty="0">
                          <a:latin typeface="Arial" panose="020B0604020202020204" pitchFamily="34" charset="0"/>
                          <a:cs typeface="Arial" panose="020B0604020202020204" pitchFamily="34" charset="0"/>
                        </a:rPr>
                        <a:t>7</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a:latin typeface="Arial" panose="020B0604020202020204" pitchFamily="34" charset="0"/>
                          <a:cs typeface="Arial" panose="020B0604020202020204" pitchFamily="34" charset="0"/>
                        </a:rPr>
                        <a:t>Đánh giá, tổng kết, xuất tài liệu proposal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b="0" dirty="0">
                          <a:latin typeface="Arial" panose="020B0604020202020204" pitchFamily="34" charset="0"/>
                          <a:cs typeface="Arial" panose="020B0604020202020204" pitchFamily="34" charset="0"/>
                        </a:rPr>
                        <a:t>Hoàn </a:t>
                      </a:r>
                      <a:r>
                        <a:rPr lang="en-US" sz="2000" b="0" dirty="0" err="1">
                          <a:latin typeface="Arial" panose="020B0604020202020204" pitchFamily="34" charset="0"/>
                          <a:cs typeface="Arial" panose="020B0604020202020204" pitchFamily="34" charset="0"/>
                        </a:rPr>
                        <a:t>thành</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kiến</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trúc</a:t>
                      </a:r>
                      <a:r>
                        <a:rPr lang="en-US" sz="2000" b="0" dirty="0">
                          <a:latin typeface="Arial" panose="020B0604020202020204" pitchFamily="34" charset="0"/>
                          <a:cs typeface="Arial" panose="020B0604020202020204" pitchFamily="34" charset="0"/>
                        </a:rPr>
                        <a:t> + </a:t>
                      </a:r>
                      <a:r>
                        <a:rPr lang="en-US" sz="2000" b="0" dirty="0" err="1">
                          <a:latin typeface="Arial" panose="020B0604020202020204" pitchFamily="34" charset="0"/>
                          <a:cs typeface="Arial" panose="020B0604020202020204" pitchFamily="34" charset="0"/>
                        </a:rPr>
                        <a:t>tài</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liệu</a:t>
                      </a:r>
                      <a:r>
                        <a:rPr lang="en-US" sz="2000" b="0" dirty="0">
                          <a:latin typeface="Arial" panose="020B0604020202020204" pitchFamily="34" charset="0"/>
                          <a:cs typeface="Arial" panose="020B0604020202020204" pitchFamily="34" charset="0"/>
                        </a:rPr>
                        <a:t> </a:t>
                      </a:r>
                      <a:r>
                        <a:rPr lang="en-US" sz="2000" b="0" dirty="0" err="1">
                          <a:latin typeface="Arial" panose="020B0604020202020204" pitchFamily="34" charset="0"/>
                          <a:cs typeface="Arial" panose="020B0604020202020204" pitchFamily="34" charset="0"/>
                        </a:rPr>
                        <a:t>hóa</a:t>
                      </a:r>
                      <a:endParaRPr lang="en-US" sz="2000" b="0" dirty="0">
                        <a:latin typeface="Arial" panose="020B0604020202020204" pitchFamily="34" charset="0"/>
                        <a:cs typeface="Arial" panose="020B0604020202020204" pitchFamily="34"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8078947"/>
                  </a:ext>
                </a:extLst>
              </a:tr>
            </a:tbl>
          </a:graphicData>
        </a:graphic>
      </p:graphicFrame>
    </p:spTree>
    <p:extLst>
      <p:ext uri="{BB962C8B-B14F-4D97-AF65-F5344CB8AC3E}">
        <p14:creationId xmlns:p14="http://schemas.microsoft.com/office/powerpoint/2010/main" val="3765145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FF8AB-45A7-CBAF-D136-1E47F533CCC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04F7659-5CCD-95BE-ADBC-DC51763D3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12A6FC5-DBA7-03D5-1606-049786595D25}"/>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A1A00A6-065C-D9A2-1C1B-18F57E6E1C18}"/>
              </a:ext>
            </a:extLst>
          </p:cNvPr>
          <p:cNvSpPr txBox="1"/>
          <p:nvPr/>
        </p:nvSpPr>
        <p:spPr>
          <a:xfrm>
            <a:off x="7200899"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Timeline &amp; Milestones</a:t>
            </a:r>
          </a:p>
        </p:txBody>
      </p:sp>
      <p:sp>
        <p:nvSpPr>
          <p:cNvPr id="5" name="TextBox 4">
            <a:extLst>
              <a:ext uri="{FF2B5EF4-FFF2-40B4-BE49-F238E27FC236}">
                <a16:creationId xmlns:a16="http://schemas.microsoft.com/office/drawing/2014/main" id="{44FF4F9C-5365-EE10-6688-49DBE9E9937B}"/>
              </a:ext>
            </a:extLst>
          </p:cNvPr>
          <p:cNvSpPr txBox="1"/>
          <p:nvPr/>
        </p:nvSpPr>
        <p:spPr>
          <a:xfrm>
            <a:off x="358487" y="1405419"/>
            <a:ext cx="6182590"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Milestones </a:t>
            </a:r>
            <a:r>
              <a:rPr lang="en-US" sz="2800" b="1" dirty="0" err="1">
                <a:solidFill>
                  <a:srgbClr val="0070C0"/>
                </a:solidFill>
                <a:latin typeface="Arial" panose="020B0604020202020204" pitchFamily="34" charset="0"/>
                <a:cs typeface="Arial" panose="020B0604020202020204" pitchFamily="34" charset="0"/>
              </a:rPr>
              <a:t>chính</a:t>
            </a:r>
            <a:endParaRPr lang="en-US" sz="2800" b="1" dirty="0">
              <a:solidFill>
                <a:srgbClr val="0070C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0BB7359D-63C3-3B13-3B08-948E63825CBC}"/>
              </a:ext>
            </a:extLst>
          </p:cNvPr>
          <p:cNvGraphicFramePr>
            <a:graphicFrameLocks noGrp="1"/>
          </p:cNvGraphicFramePr>
          <p:nvPr>
            <p:extLst>
              <p:ext uri="{D42A27DB-BD31-4B8C-83A1-F6EECF244321}">
                <p14:modId xmlns:p14="http://schemas.microsoft.com/office/powerpoint/2010/main" val="4003702251"/>
              </p:ext>
            </p:extLst>
          </p:nvPr>
        </p:nvGraphicFramePr>
        <p:xfrm>
          <a:off x="358487" y="1852454"/>
          <a:ext cx="11475025" cy="4439920"/>
        </p:xfrm>
        <a:graphic>
          <a:graphicData uri="http://schemas.openxmlformats.org/drawingml/2006/table">
            <a:tbl>
              <a:tblPr/>
              <a:tblGrid>
                <a:gridCol w="1023504">
                  <a:extLst>
                    <a:ext uri="{9D8B030D-6E8A-4147-A177-3AD203B41FA5}">
                      <a16:colId xmlns:a16="http://schemas.microsoft.com/office/drawing/2014/main" val="1048359069"/>
                    </a:ext>
                  </a:extLst>
                </a:gridCol>
                <a:gridCol w="4727864">
                  <a:extLst>
                    <a:ext uri="{9D8B030D-6E8A-4147-A177-3AD203B41FA5}">
                      <a16:colId xmlns:a16="http://schemas.microsoft.com/office/drawing/2014/main" val="3313599685"/>
                    </a:ext>
                  </a:extLst>
                </a:gridCol>
                <a:gridCol w="5723657">
                  <a:extLst>
                    <a:ext uri="{9D8B030D-6E8A-4147-A177-3AD203B41FA5}">
                      <a16:colId xmlns:a16="http://schemas.microsoft.com/office/drawing/2014/main" val="3688525721"/>
                    </a:ext>
                  </a:extLst>
                </a:gridCol>
              </a:tblGrid>
              <a:tr h="0">
                <a:tc>
                  <a:txBody>
                    <a:bodyPr/>
                    <a:lstStyle/>
                    <a:p>
                      <a:pPr algn="ctr">
                        <a:lnSpc>
                          <a:spcPct val="150000"/>
                        </a:lnSpc>
                        <a:buNone/>
                      </a:pPr>
                      <a:r>
                        <a:rPr lang="en-US" sz="1800" dirty="0" err="1">
                          <a:latin typeface="Arial" panose="020B0604020202020204" pitchFamily="34" charset="0"/>
                          <a:cs typeface="Arial" panose="020B0604020202020204" pitchFamily="34" charset="0"/>
                        </a:rPr>
                        <a:t>Mốc</a:t>
                      </a:r>
                      <a:endParaRPr lang="en-US" sz="1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1800" dirty="0" err="1">
                          <a:latin typeface="Arial" panose="020B0604020202020204" pitchFamily="34" charset="0"/>
                          <a:cs typeface="Arial" panose="020B0604020202020204" pitchFamily="34" charset="0"/>
                        </a:rPr>
                        <a:t>Mô</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tả</a:t>
                      </a:r>
                      <a:r>
                        <a:rPr lang="en-US" sz="1800" dirty="0">
                          <a:latin typeface="Arial" panose="020B0604020202020204" pitchFamily="34" charset="0"/>
                          <a:cs typeface="Arial" panose="020B0604020202020204" pitchFamily="34" charset="0"/>
                        </a:rPr>
                        <a:t> Milestone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1800" dirty="0">
                          <a:latin typeface="Arial" panose="020B0604020202020204" pitchFamily="34" charset="0"/>
                          <a:cs typeface="Arial" panose="020B0604020202020204" pitchFamily="34" charset="0"/>
                        </a:rPr>
                        <a:t>Success 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660867210"/>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Thiết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kế</a:t>
                      </a:r>
                      <a:r>
                        <a:rPr lang="en-US" sz="1800" dirty="0">
                          <a:latin typeface="Arial" panose="020B0604020202020204" pitchFamily="34" charset="0"/>
                          <a:cs typeface="Arial" panose="020B0604020202020204" pitchFamily="34" charset="0"/>
                        </a:rPr>
                        <a:t> API Spec </a:t>
                      </a:r>
                      <a:r>
                        <a:rPr lang="en-US" sz="1800" dirty="0" err="1">
                          <a:latin typeface="Arial" panose="020B0604020202020204" pitchFamily="34" charset="0"/>
                          <a:cs typeface="Arial" panose="020B0604020202020204" pitchFamily="34" charset="0"/>
                        </a:rPr>
                        <a:t>chuẩn</a:t>
                      </a:r>
                      <a:r>
                        <a:rPr lang="en-US" sz="1800" dirty="0">
                          <a:latin typeface="Arial" panose="020B0604020202020204" pitchFamily="34" charset="0"/>
                          <a:cs typeface="Arial" panose="020B0604020202020204" pitchFamily="34" charset="0"/>
                        </a:rPr>
                        <a:t> RESTful (OpenAPI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Đầy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đủ</a:t>
                      </a:r>
                      <a:r>
                        <a:rPr lang="en-US" sz="1800" dirty="0">
                          <a:latin typeface="Arial" panose="020B0604020202020204" pitchFamily="34" charset="0"/>
                          <a:cs typeface="Arial" panose="020B0604020202020204" pitchFamily="34" charset="0"/>
                        </a:rPr>
                        <a:t> path, method, schema &amp; test validator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8670656"/>
                  </a:ext>
                </a:extLst>
              </a:tr>
              <a:tr h="0">
                <a:tc>
                  <a:txBody>
                    <a:bodyPr/>
                    <a:lstStyle/>
                    <a:p>
                      <a:pPr algn="ctr">
                        <a:lnSpc>
                          <a:spcPct val="150000"/>
                        </a:lnSpc>
                        <a:buNone/>
                      </a:pPr>
                      <a:r>
                        <a:rPr lang="en-US" sz="1800">
                          <a:latin typeface="Arial" panose="020B0604020202020204" pitchFamily="34" charset="0"/>
                          <a:cs typeface="Arial" panose="020B0604020202020204" pitchFamily="34" charset="0"/>
                        </a:rPr>
                        <a:t>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Tự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động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mã</a:t>
                      </a:r>
                      <a:r>
                        <a:rPr lang="en-US" sz="1800" dirty="0">
                          <a:latin typeface="Arial" panose="020B0604020202020204" pitchFamily="34" charset="0"/>
                          <a:cs typeface="Arial" panose="020B0604020202020204" pitchFamily="34" charset="0"/>
                        </a:rPr>
                        <a:t> server &amp; client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Tự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bằng</a:t>
                      </a:r>
                      <a:r>
                        <a:rPr lang="en-US" sz="1800" dirty="0">
                          <a:latin typeface="Arial" panose="020B0604020202020204" pitchFamily="34" charset="0"/>
                          <a:cs typeface="Arial" panose="020B0604020202020204" pitchFamily="34" charset="0"/>
                        </a:rPr>
                        <a:t> OpenAPI Generator, </a:t>
                      </a:r>
                      <a:r>
                        <a:rPr lang="en-US" sz="1800" dirty="0" err="1">
                          <a:latin typeface="Arial" panose="020B0604020202020204" pitchFamily="34" charset="0"/>
                          <a:cs typeface="Arial" panose="020B0604020202020204" pitchFamily="34" charset="0"/>
                        </a:rPr>
                        <a:t>không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lỗi</a:t>
                      </a:r>
                      <a:endParaRPr lang="en-US" sz="1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8230185"/>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Triển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khai</a:t>
                      </a:r>
                      <a:r>
                        <a:rPr lang="en-US" sz="1800" dirty="0">
                          <a:latin typeface="Arial" panose="020B0604020202020204" pitchFamily="34" charset="0"/>
                          <a:cs typeface="Arial" panose="020B0604020202020204" pitchFamily="34" charset="0"/>
                        </a:rPr>
                        <a:t> Lambda + API Gateway </a:t>
                      </a:r>
                      <a:r>
                        <a:rPr lang="en-US" sz="1800" dirty="0" err="1">
                          <a:latin typeface="Arial" panose="020B0604020202020204" pitchFamily="34" charset="0"/>
                          <a:cs typeface="Arial" panose="020B0604020202020204" pitchFamily="34" charset="0"/>
                        </a:rPr>
                        <a:t>với</a:t>
                      </a:r>
                      <a:r>
                        <a:rPr lang="en-US" sz="1800" dirty="0">
                          <a:latin typeface="Arial" panose="020B0604020202020204" pitchFamily="34" charset="0"/>
                          <a:cs typeface="Arial" panose="020B0604020202020204" pitchFamily="34" charset="0"/>
                        </a:rPr>
                        <a:t> 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vi-VN" sz="1800" dirty="0">
                          <a:latin typeface="Arial" panose="020B0604020202020204" pitchFamily="34" charset="0"/>
                          <a:cs typeface="Arial" panose="020B0604020202020204" pitchFamily="34" charset="0"/>
                        </a:rPr>
                        <a:t>Gửi được request từ client đến Lambda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981478"/>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err="1">
                          <a:latin typeface="Arial" panose="020B0604020202020204" pitchFamily="34" charset="0"/>
                          <a:cs typeface="Arial" panose="020B0604020202020204" pitchFamily="34" charset="0"/>
                        </a:rPr>
                        <a:t>Tự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động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hóa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kiểm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thử</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với</a:t>
                      </a:r>
                      <a:r>
                        <a:rPr lang="en-US" sz="1800" dirty="0">
                          <a:latin typeface="Arial" panose="020B0604020202020204" pitchFamily="34" charset="0"/>
                          <a:cs typeface="Arial" panose="020B0604020202020204" pitchFamily="34" charset="0"/>
                        </a:rPr>
                        <a:t> Jest + </a:t>
                      </a:r>
                      <a:r>
                        <a:rPr lang="en-US" sz="1800" dirty="0" err="1">
                          <a:latin typeface="Arial" panose="020B0604020202020204" pitchFamily="34" charset="0"/>
                          <a:cs typeface="Arial" panose="020B0604020202020204" pitchFamily="34" charset="0"/>
                        </a:rPr>
                        <a:t>CodeBuild</a:t>
                      </a:r>
                      <a:endParaRPr lang="en-US" sz="1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a:latin typeface="Arial" panose="020B0604020202020204" pitchFamily="34" charset="0"/>
                          <a:cs typeface="Arial" panose="020B0604020202020204" pitchFamily="34" charset="0"/>
                        </a:rPr>
                        <a:t>Test pass </a:t>
                      </a:r>
                      <a:r>
                        <a:rPr lang="en-US" sz="1800" dirty="0" err="1">
                          <a:latin typeface="Arial" panose="020B0604020202020204" pitchFamily="34" charset="0"/>
                          <a:cs typeface="Arial" panose="020B0604020202020204" pitchFamily="34" charset="0"/>
                        </a:rPr>
                        <a:t>trên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CodeBuild</a:t>
                      </a:r>
                      <a:r>
                        <a:rPr lang="en-US" sz="1800" dirty="0">
                          <a:latin typeface="Arial" panose="020B0604020202020204" pitchFamily="34" charset="0"/>
                          <a:cs typeface="Arial" panose="020B0604020202020204" pitchFamily="34" charset="0"/>
                        </a:rPr>
                        <a:t> + coverage &gt; 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757269"/>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a:latin typeface="Arial" panose="020B0604020202020204" pitchFamily="34" charset="0"/>
                          <a:cs typeface="Arial" panose="020B0604020202020204" pitchFamily="34" charset="0"/>
                        </a:rPr>
                        <a:t>Thiết lập CloudWatch Logs, X-Ray, Alarm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eaLnBrk="1" latinLnBrk="0" hangingPunct="1">
                        <a:lnSpc>
                          <a:spcPct val="150000"/>
                        </a:lnSpc>
                      </a:pPr>
                      <a:r>
                        <a:rPr lang="en-US" sz="1800" kern="1200" dirty="0" err="1">
                          <a:solidFill>
                            <a:schemeClr val="tx1"/>
                          </a:solidFill>
                          <a:effectLst/>
                          <a:latin typeface="Arial" panose="020B0604020202020204" pitchFamily="34" charset="0"/>
                          <a:ea typeface="+mn-ea"/>
                          <a:cs typeface="Arial" panose="020B0604020202020204" pitchFamily="34" charset="0"/>
                        </a:rPr>
                        <a:t>Có</a:t>
                      </a:r>
                      <a:r>
                        <a:rPr lang="en-US" sz="1800" kern="1200" dirty="0">
                          <a:solidFill>
                            <a:schemeClr val="tx1"/>
                          </a:solidFill>
                          <a:effectLst/>
                          <a:latin typeface="Arial" panose="020B0604020202020204" pitchFamily="34" charset="0"/>
                          <a:ea typeface="+mn-ea"/>
                          <a:cs typeface="Arial" panose="020B0604020202020204" pitchFamily="34" charset="0"/>
                        </a:rPr>
                        <a:t> log, trace, alarm </a:t>
                      </a:r>
                      <a:r>
                        <a:rPr lang="en-US" sz="1800" kern="1200" dirty="0" err="1">
                          <a:solidFill>
                            <a:schemeClr val="tx1"/>
                          </a:solidFill>
                          <a:effectLst/>
                          <a:latin typeface="Arial" panose="020B0604020202020204" pitchFamily="34" charset="0"/>
                          <a:ea typeface="+mn-ea"/>
                          <a:cs typeface="Arial" panose="020B0604020202020204" pitchFamily="34" charset="0"/>
                        </a:rPr>
                        <a:t>hiển</a:t>
                      </a:r>
                      <a:r>
                        <a:rPr lang="en-US" sz="1800" kern="1200" dirty="0">
                          <a:solidFill>
                            <a:schemeClr val="tx1"/>
                          </a:solidFill>
                          <a:effectLst/>
                          <a:latin typeface="Arial" panose="020B0604020202020204" pitchFamily="34" charset="0"/>
                          <a:ea typeface="+mn-ea"/>
                          <a:cs typeface="Arial" panose="020B0604020202020204" pitchFamily="34" charset="0"/>
                        </a:rPr>
                        <a:t> </a:t>
                      </a:r>
                      <a:r>
                        <a:rPr lang="en-US" sz="1800" kern="1200" dirty="0" err="1">
                          <a:solidFill>
                            <a:schemeClr val="tx1"/>
                          </a:solidFill>
                          <a:effectLst/>
                          <a:latin typeface="Arial" panose="020B0604020202020204" pitchFamily="34" charset="0"/>
                          <a:ea typeface="+mn-ea"/>
                          <a:cs typeface="Arial" panose="020B0604020202020204" pitchFamily="34" charset="0"/>
                        </a:rPr>
                        <a:t>thị</a:t>
                      </a:r>
                      <a:r>
                        <a:rPr lang="en-US" sz="1800" kern="1200" dirty="0">
                          <a:solidFill>
                            <a:schemeClr val="tx1"/>
                          </a:solidFill>
                          <a:effectLst/>
                          <a:latin typeface="Arial" panose="020B0604020202020204" pitchFamily="34" charset="0"/>
                          <a:ea typeface="+mn-ea"/>
                          <a:cs typeface="Arial" panose="020B0604020202020204" pitchFamily="34" charset="0"/>
                        </a:rPr>
                        <a:t> CloudWatch</a:t>
                      </a:r>
                      <a:endParaRPr lang="en-US" sz="18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0887664"/>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it-IT" sz="1800">
                          <a:latin typeface="Arial" panose="020B0604020202020204" pitchFamily="34" charset="0"/>
                          <a:cs typeface="Arial" panose="020B0604020202020204" pitchFamily="34" charset="0"/>
                        </a:rPr>
                        <a:t>Triển khai CodePipeline CI/CD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eaLnBrk="1" latinLnBrk="0" hangingPunct="1">
                        <a:lnSpc>
                          <a:spcPct val="150000"/>
                        </a:lnSpc>
                      </a:pPr>
                      <a:r>
                        <a:rPr lang="en-US" sz="1800" kern="1200" dirty="0">
                          <a:solidFill>
                            <a:schemeClr val="tx1"/>
                          </a:solidFill>
                          <a:effectLst/>
                          <a:latin typeface="Arial" panose="020B0604020202020204" pitchFamily="34" charset="0"/>
                          <a:ea typeface="+mn-ea"/>
                          <a:cs typeface="Arial" panose="020B0604020202020204" pitchFamily="34" charset="0"/>
                        </a:rPr>
                        <a:t>Push Git → deploy Lambda → test </a:t>
                      </a:r>
                      <a:r>
                        <a:rPr lang="en-US" sz="1800" kern="1200" dirty="0" err="1">
                          <a:solidFill>
                            <a:schemeClr val="tx1"/>
                          </a:solidFill>
                          <a:effectLst/>
                          <a:latin typeface="Arial" panose="020B0604020202020204" pitchFamily="34" charset="0"/>
                          <a:ea typeface="+mn-ea"/>
                          <a:cs typeface="Arial" panose="020B0604020202020204" pitchFamily="34" charset="0"/>
                        </a:rPr>
                        <a:t>thành</a:t>
                      </a:r>
                      <a:r>
                        <a:rPr lang="en-US" sz="1800" kern="1200" dirty="0">
                          <a:solidFill>
                            <a:schemeClr val="tx1"/>
                          </a:solidFill>
                          <a:effectLst/>
                          <a:latin typeface="Arial" panose="020B0604020202020204" pitchFamily="34" charset="0"/>
                          <a:ea typeface="+mn-ea"/>
                          <a:cs typeface="Arial" panose="020B0604020202020204" pitchFamily="34" charset="0"/>
                        </a:rPr>
                        <a:t> </a:t>
                      </a:r>
                      <a:r>
                        <a:rPr lang="en-US" sz="1800" kern="1200" dirty="0" err="1">
                          <a:solidFill>
                            <a:schemeClr val="tx1"/>
                          </a:solidFill>
                          <a:effectLst/>
                          <a:latin typeface="Arial" panose="020B0604020202020204" pitchFamily="34" charset="0"/>
                          <a:ea typeface="+mn-ea"/>
                          <a:cs typeface="Arial" panose="020B0604020202020204" pitchFamily="34" charset="0"/>
                        </a:rPr>
                        <a:t>công</a:t>
                      </a:r>
                      <a:endParaRPr lang="en-US" sz="18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6894421"/>
                  </a:ext>
                </a:extLst>
              </a:tr>
              <a:tr h="0">
                <a:tc>
                  <a:txBody>
                    <a:bodyPr/>
                    <a:lstStyle/>
                    <a:p>
                      <a:pPr algn="ctr">
                        <a:lnSpc>
                          <a:spcPct val="150000"/>
                        </a:lnSpc>
                        <a:buNone/>
                      </a:pPr>
                      <a:r>
                        <a:rPr lang="en-US" sz="1800" dirty="0">
                          <a:latin typeface="Arial" panose="020B0604020202020204" pitchFamily="34" charset="0"/>
                          <a:cs typeface="Arial" panose="020B0604020202020204" pitchFamily="34" charset="0"/>
                        </a:rPr>
                        <a:t>M7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dirty="0">
                          <a:latin typeface="Arial" panose="020B0604020202020204" pitchFamily="34" charset="0"/>
                          <a:cs typeface="Arial" panose="020B0604020202020204" pitchFamily="34" charset="0"/>
                        </a:rPr>
                        <a:t>Hoàn </a:t>
                      </a:r>
                      <a:r>
                        <a:rPr lang="en-US" sz="1800" dirty="0" err="1">
                          <a:latin typeface="Arial" panose="020B0604020202020204" pitchFamily="34" charset="0"/>
                          <a:cs typeface="Arial" panose="020B0604020202020204" pitchFamily="34" charset="0"/>
                        </a:rPr>
                        <a:t>tất</a:t>
                      </a:r>
                      <a:r>
                        <a:rPr lang="en-US" sz="1800" dirty="0">
                          <a:latin typeface="Arial" panose="020B0604020202020204" pitchFamily="34" charset="0"/>
                          <a:cs typeface="Arial" panose="020B0604020202020204" pitchFamily="34" charset="0"/>
                        </a:rPr>
                        <a:t> workshop docs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endParaRPr lang="en-US" sz="1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7479185"/>
                  </a:ext>
                </a:extLst>
              </a:tr>
            </a:tbl>
          </a:graphicData>
        </a:graphic>
      </p:graphicFrame>
    </p:spTree>
    <p:extLst>
      <p:ext uri="{BB962C8B-B14F-4D97-AF65-F5344CB8AC3E}">
        <p14:creationId xmlns:p14="http://schemas.microsoft.com/office/powerpoint/2010/main" val="1690170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D6BDD-2593-DB38-0DC1-AE4C0736ED2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A52B2F0-54A8-AAE4-5A8C-CA2DB8B98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2A78B1D-1747-321C-BB80-A268453D82BC}"/>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B4C6C00-CAE1-1931-DFE7-B6F8719DF09A}"/>
              </a:ext>
            </a:extLst>
          </p:cNvPr>
          <p:cNvSpPr txBox="1"/>
          <p:nvPr/>
        </p:nvSpPr>
        <p:spPr>
          <a:xfrm>
            <a:off x="7200899"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Timeline &amp; Milestones</a:t>
            </a:r>
          </a:p>
        </p:txBody>
      </p:sp>
      <p:sp>
        <p:nvSpPr>
          <p:cNvPr id="5" name="TextBox 4">
            <a:extLst>
              <a:ext uri="{FF2B5EF4-FFF2-40B4-BE49-F238E27FC236}">
                <a16:creationId xmlns:a16="http://schemas.microsoft.com/office/drawing/2014/main" id="{5CDF3CE1-1A00-52AE-9C84-B13F58B7B628}"/>
              </a:ext>
            </a:extLst>
          </p:cNvPr>
          <p:cNvSpPr txBox="1"/>
          <p:nvPr/>
        </p:nvSpPr>
        <p:spPr>
          <a:xfrm>
            <a:off x="753342" y="1735916"/>
            <a:ext cx="6182590"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err="1">
                <a:solidFill>
                  <a:srgbClr val="0070C0"/>
                </a:solidFill>
                <a:latin typeface="Arial" panose="020B0604020202020204" pitchFamily="34" charset="0"/>
                <a:cs typeface="Arial" panose="020B0604020202020204" pitchFamily="34" charset="0"/>
              </a:rPr>
              <a:t>Phụ</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thuộc</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chính</a:t>
            </a:r>
            <a:endParaRPr lang="en-US" sz="2800" b="1" dirty="0">
              <a:solidFill>
                <a:srgbClr val="0070C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6D8FAD77-5415-43B5-000D-E225F376459B}"/>
              </a:ext>
            </a:extLst>
          </p:cNvPr>
          <p:cNvGraphicFramePr>
            <a:graphicFrameLocks noGrp="1"/>
          </p:cNvGraphicFramePr>
          <p:nvPr>
            <p:extLst>
              <p:ext uri="{D42A27DB-BD31-4B8C-83A1-F6EECF244321}">
                <p14:modId xmlns:p14="http://schemas.microsoft.com/office/powerpoint/2010/main" val="2464139075"/>
              </p:ext>
            </p:extLst>
          </p:nvPr>
        </p:nvGraphicFramePr>
        <p:xfrm>
          <a:off x="838200" y="3269774"/>
          <a:ext cx="10515600" cy="1968756"/>
        </p:xfrm>
        <a:graphic>
          <a:graphicData uri="http://schemas.openxmlformats.org/drawingml/2006/table">
            <a:tbl>
              <a:tblPr/>
              <a:tblGrid>
                <a:gridCol w="5257800">
                  <a:extLst>
                    <a:ext uri="{9D8B030D-6E8A-4147-A177-3AD203B41FA5}">
                      <a16:colId xmlns:a16="http://schemas.microsoft.com/office/drawing/2014/main" val="2442648864"/>
                    </a:ext>
                  </a:extLst>
                </a:gridCol>
                <a:gridCol w="5257800">
                  <a:extLst>
                    <a:ext uri="{9D8B030D-6E8A-4147-A177-3AD203B41FA5}">
                      <a16:colId xmlns:a16="http://schemas.microsoft.com/office/drawing/2014/main" val="2022442829"/>
                    </a:ext>
                  </a:extLst>
                </a:gridCol>
              </a:tblGrid>
              <a:tr h="0">
                <a:tc>
                  <a:txBody>
                    <a:bodyPr/>
                    <a:lstStyle/>
                    <a:p>
                      <a:pPr algn="ctr">
                        <a:lnSpc>
                          <a:spcPct val="150000"/>
                        </a:lnSpc>
                        <a:buNone/>
                      </a:pPr>
                      <a:r>
                        <a:rPr lang="en-US" sz="2000" dirty="0" err="1">
                          <a:latin typeface="Arial" panose="020B0604020202020204" pitchFamily="34" charset="0"/>
                          <a:cs typeface="Arial" panose="020B0604020202020204" pitchFamily="34" charset="0"/>
                        </a:rPr>
                        <a:t>Phụ</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Tác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nếu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chậm</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752584303"/>
                  </a:ext>
                </a:extLst>
              </a:tr>
              <a:tr h="0">
                <a:tc>
                  <a:txBody>
                    <a:bodyPr/>
                    <a:lstStyle/>
                    <a:p>
                      <a:pPr>
                        <a:lnSpc>
                          <a:spcPct val="150000"/>
                        </a:lnSpc>
                        <a:buNone/>
                      </a:pPr>
                      <a:r>
                        <a:rPr lang="en-US" sz="2000">
                          <a:latin typeface="Arial" panose="020B0604020202020204" pitchFamily="34" charset="0"/>
                          <a:cs typeface="Arial" panose="020B0604020202020204" pitchFamily="34" charset="0"/>
                        </a:rPr>
                        <a:t>AWS Free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Có thể giới hạn tài nguyên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2839564"/>
                  </a:ext>
                </a:extLst>
              </a:tr>
              <a:tr h="0">
                <a:tc>
                  <a:txBody>
                    <a:bodyPr/>
                    <a:lstStyle/>
                    <a:p>
                      <a:pPr>
                        <a:lnSpc>
                          <a:spcPct val="150000"/>
                        </a:lnSpc>
                        <a:buNone/>
                      </a:pPr>
                      <a:r>
                        <a:rPr lang="en-US" sz="2000" dirty="0" err="1">
                          <a:latin typeface="Arial" panose="020B0604020202020204" pitchFamily="34" charset="0"/>
                          <a:cs typeface="Arial" panose="020B0604020202020204" pitchFamily="34" charset="0"/>
                        </a:rPr>
                        <a:t>CodeBuild</a:t>
                      </a:r>
                      <a:r>
                        <a:rPr lang="en-US" sz="2000" dirty="0">
                          <a:latin typeface="Arial" panose="020B0604020202020204" pitchFamily="34" charset="0"/>
                          <a:cs typeface="Arial" panose="020B0604020202020204" pitchFamily="34" charset="0"/>
                        </a:rPr>
                        <a:t> config </a:t>
                      </a:r>
                      <a:r>
                        <a:rPr lang="en-US" sz="2000" dirty="0" err="1">
                          <a:latin typeface="Arial" panose="020B0604020202020204" pitchFamily="34" charset="0"/>
                          <a:cs typeface="Arial" panose="020B0604020202020204" pitchFamily="34" charset="0"/>
                        </a:rPr>
                        <a:t>đúng</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Build/test không chạy được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9932915"/>
                  </a:ext>
                </a:extLst>
              </a:tr>
              <a:tr h="0">
                <a:tc>
                  <a:txBody>
                    <a:bodyPr/>
                    <a:lstStyle/>
                    <a:p>
                      <a:pPr>
                        <a:lnSpc>
                          <a:spcPct val="150000"/>
                        </a:lnSpc>
                        <a:buNone/>
                      </a:pPr>
                      <a:r>
                        <a:rPr lang="en-US" sz="2000">
                          <a:latin typeface="Arial" panose="020B0604020202020204" pitchFamily="34" charset="0"/>
                          <a:cs typeface="Arial" panose="020B0604020202020204" pitchFamily="34" charset="0"/>
                        </a:rPr>
                        <a:t>Định nghĩa OpenAPI chuẩn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latin typeface="Arial" panose="020B0604020202020204" pitchFamily="34" charset="0"/>
                          <a:cs typeface="Arial" panose="020B0604020202020204" pitchFamily="34" charset="0"/>
                        </a:rPr>
                        <a:t>Codegen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lỗi</a:t>
                      </a:r>
                      <a:r>
                        <a:rPr lang="en-US" sz="2000" dirty="0">
                          <a:latin typeface="Arial" panose="020B0604020202020204" pitchFamily="34" charset="0"/>
                          <a:cs typeface="Arial" panose="020B0604020202020204" pitchFamily="34" charset="0"/>
                        </a:rPr>
                        <a:t>, test fail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174004"/>
                  </a:ext>
                </a:extLst>
              </a:tr>
            </a:tbl>
          </a:graphicData>
        </a:graphic>
      </p:graphicFrame>
    </p:spTree>
    <p:extLst>
      <p:ext uri="{BB962C8B-B14F-4D97-AF65-F5344CB8AC3E}">
        <p14:creationId xmlns:p14="http://schemas.microsoft.com/office/powerpoint/2010/main" val="2311101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6403-DF6F-E745-78A7-E26A1AECCD2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4F6695F-87C2-52B1-0018-391A60FF0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B561F2B-E385-6BB7-C654-E53455ABEDE9}"/>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875FF92-5A49-5044-21B6-CE4B01CB9EF8}"/>
              </a:ext>
            </a:extLst>
          </p:cNvPr>
          <p:cNvSpPr txBox="1"/>
          <p:nvPr/>
        </p:nvSpPr>
        <p:spPr>
          <a:xfrm>
            <a:off x="7200899"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Timeline &amp; Milestones</a:t>
            </a:r>
          </a:p>
        </p:txBody>
      </p:sp>
      <p:sp>
        <p:nvSpPr>
          <p:cNvPr id="5" name="TextBox 4">
            <a:extLst>
              <a:ext uri="{FF2B5EF4-FFF2-40B4-BE49-F238E27FC236}">
                <a16:creationId xmlns:a16="http://schemas.microsoft.com/office/drawing/2014/main" id="{5CD76BA3-DF78-E06E-4F3F-02170DE50B72}"/>
              </a:ext>
            </a:extLst>
          </p:cNvPr>
          <p:cNvSpPr txBox="1"/>
          <p:nvPr/>
        </p:nvSpPr>
        <p:spPr>
          <a:xfrm>
            <a:off x="389659" y="1467765"/>
            <a:ext cx="6182590"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err="1">
                <a:solidFill>
                  <a:srgbClr val="0070C0"/>
                </a:solidFill>
                <a:latin typeface="Arial" panose="020B0604020202020204" pitchFamily="34" charset="0"/>
                <a:cs typeface="Arial" panose="020B0604020202020204" pitchFamily="34" charset="0"/>
              </a:rPr>
              <a:t>Phân</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bổ</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nguồn</a:t>
            </a:r>
            <a:r>
              <a:rPr lang="en-US" sz="2800" b="1" dirty="0">
                <a:solidFill>
                  <a:srgbClr val="0070C0"/>
                </a:solidFill>
                <a:latin typeface="Arial" panose="020B0604020202020204" pitchFamily="34" charset="0"/>
                <a:cs typeface="Arial" panose="020B0604020202020204" pitchFamily="34" charset="0"/>
              </a:rPr>
              <a:t> </a:t>
            </a:r>
            <a:r>
              <a:rPr lang="en-US" sz="2800" b="1" dirty="0" err="1">
                <a:solidFill>
                  <a:srgbClr val="0070C0"/>
                </a:solidFill>
                <a:latin typeface="Arial" panose="020B0604020202020204" pitchFamily="34" charset="0"/>
                <a:cs typeface="Arial" panose="020B0604020202020204" pitchFamily="34" charset="0"/>
              </a:rPr>
              <a:t>lực</a:t>
            </a:r>
            <a:endParaRPr lang="en-US" sz="2800" b="1" dirty="0">
              <a:solidFill>
                <a:srgbClr val="0070C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AB792655-6D22-94A6-473A-AC83146DF11F}"/>
              </a:ext>
            </a:extLst>
          </p:cNvPr>
          <p:cNvGraphicFramePr>
            <a:graphicFrameLocks noGrp="1"/>
          </p:cNvGraphicFramePr>
          <p:nvPr>
            <p:extLst>
              <p:ext uri="{D42A27DB-BD31-4B8C-83A1-F6EECF244321}">
                <p14:modId xmlns:p14="http://schemas.microsoft.com/office/powerpoint/2010/main" val="1056423456"/>
              </p:ext>
            </p:extLst>
          </p:nvPr>
        </p:nvGraphicFramePr>
        <p:xfrm>
          <a:off x="838200" y="2550723"/>
          <a:ext cx="10515600" cy="3410334"/>
        </p:xfrm>
        <a:graphic>
          <a:graphicData uri="http://schemas.openxmlformats.org/drawingml/2006/table">
            <a:tbl>
              <a:tblPr/>
              <a:tblGrid>
                <a:gridCol w="3505200">
                  <a:extLst>
                    <a:ext uri="{9D8B030D-6E8A-4147-A177-3AD203B41FA5}">
                      <a16:colId xmlns:a16="http://schemas.microsoft.com/office/drawing/2014/main" val="3136968669"/>
                    </a:ext>
                  </a:extLst>
                </a:gridCol>
                <a:gridCol w="3505200">
                  <a:extLst>
                    <a:ext uri="{9D8B030D-6E8A-4147-A177-3AD203B41FA5}">
                      <a16:colId xmlns:a16="http://schemas.microsoft.com/office/drawing/2014/main" val="350574742"/>
                    </a:ext>
                  </a:extLst>
                </a:gridCol>
                <a:gridCol w="3505200">
                  <a:extLst>
                    <a:ext uri="{9D8B030D-6E8A-4147-A177-3AD203B41FA5}">
                      <a16:colId xmlns:a16="http://schemas.microsoft.com/office/drawing/2014/main" val="2250569706"/>
                    </a:ext>
                  </a:extLst>
                </a:gridCol>
              </a:tblGrid>
              <a:tr h="0">
                <a:tc>
                  <a:txBody>
                    <a:bodyPr/>
                    <a:lstStyle/>
                    <a:p>
                      <a:pPr algn="ctr">
                        <a:lnSpc>
                          <a:spcPct val="150000"/>
                        </a:lnSpc>
                        <a:buNone/>
                      </a:pPr>
                      <a:r>
                        <a:rPr lang="en-US" sz="2000" dirty="0">
                          <a:latin typeface="Arial" panose="020B0604020202020204" pitchFamily="34" charset="0"/>
                          <a:cs typeface="Arial" panose="020B0604020202020204" pitchFamily="34" charset="0"/>
                        </a:rPr>
                        <a:t>Vai </a:t>
                      </a:r>
                      <a:r>
                        <a:rPr lang="en-US" sz="2000" dirty="0" err="1">
                          <a:latin typeface="Arial" panose="020B0604020202020204" pitchFamily="34" charset="0"/>
                          <a:cs typeface="Arial" panose="020B0604020202020204" pitchFamily="34" charset="0"/>
                        </a:rPr>
                        <a:t>trò</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vi-VN" sz="2000" dirty="0">
                          <a:latin typeface="Arial" panose="020B0604020202020204" pitchFamily="34" charset="0"/>
                          <a:cs typeface="Arial" panose="020B0604020202020204" pitchFamily="34" charset="0"/>
                        </a:rPr>
                        <a:t>Người thực hiện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Ghi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558367848"/>
                  </a:ext>
                </a:extLst>
              </a:tr>
              <a:tr h="0">
                <a:tc>
                  <a:txBody>
                    <a:bodyPr/>
                    <a:lstStyle/>
                    <a:p>
                      <a:pPr>
                        <a:lnSpc>
                          <a:spcPct val="150000"/>
                        </a:lnSpc>
                        <a:buNone/>
                      </a:pPr>
                      <a:r>
                        <a:rPr lang="en-US" sz="2000">
                          <a:latin typeface="Arial" panose="020B0604020202020204" pitchFamily="34" charset="0"/>
                          <a:cs typeface="Arial" panose="020B0604020202020204" pitchFamily="34" charset="0"/>
                        </a:rPr>
                        <a:t>API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Dev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Thiết kế OpenAPI, 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54891"/>
                  </a:ext>
                </a:extLst>
              </a:tr>
              <a:tr h="0">
                <a:tc>
                  <a:txBody>
                    <a:bodyPr/>
                    <a:lstStyle/>
                    <a:p>
                      <a:pPr>
                        <a:lnSpc>
                          <a:spcPct val="150000"/>
                        </a:lnSpc>
                        <a:buNone/>
                      </a:pPr>
                      <a:r>
                        <a:rPr lang="en-US" sz="2000">
                          <a:latin typeface="Arial" panose="020B0604020202020204" pitchFamily="34" charset="0"/>
                          <a:cs typeface="Arial" panose="020B0604020202020204" pitchFamily="34" charset="0"/>
                        </a:rPr>
                        <a:t>Code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Dev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Client &amp; server stub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5640502"/>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DevOps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Tester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Buildspec, CodePipeline, IAM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3724821"/>
                  </a:ext>
                </a:extLst>
              </a:tr>
              <a:tr h="0">
                <a:tc>
                  <a:txBody>
                    <a:bodyPr/>
                    <a:lstStyle/>
                    <a:p>
                      <a:pPr>
                        <a:lnSpc>
                          <a:spcPct val="150000"/>
                        </a:lnSpc>
                        <a:buNone/>
                      </a:pPr>
                      <a:r>
                        <a:rPr lang="en-US" sz="2000">
                          <a:latin typeface="Arial" panose="020B0604020202020204" pitchFamily="34" charset="0"/>
                          <a:cs typeface="Arial" panose="020B0604020202020204" pitchFamily="34" charset="0"/>
                        </a:rPr>
                        <a:t>Test &amp; QA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Tester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Jest, coverage, build 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8499125"/>
                  </a:ext>
                </a:extLst>
              </a:tr>
              <a:tr h="0">
                <a:tc>
                  <a:txBody>
                    <a:bodyPr/>
                    <a:lstStyle/>
                    <a:p>
                      <a:pPr>
                        <a:lnSpc>
                          <a:spcPct val="150000"/>
                        </a:lnSpc>
                        <a:buNone/>
                      </a:pPr>
                      <a:r>
                        <a:rPr lang="en-US" sz="2000">
                          <a:latin typeface="Arial" panose="020B0604020202020204" pitchFamily="34" charset="0"/>
                          <a:cs typeface="Arial" panose="020B0604020202020204" pitchFamily="34" charset="0"/>
                        </a:rPr>
                        <a:t>Report &amp; Blog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Product Owner / Dev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Proposal, Hugo Blog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8414860"/>
                  </a:ext>
                </a:extLst>
              </a:tr>
            </a:tbl>
          </a:graphicData>
        </a:graphic>
      </p:graphicFrame>
    </p:spTree>
    <p:extLst>
      <p:ext uri="{BB962C8B-B14F-4D97-AF65-F5344CB8AC3E}">
        <p14:creationId xmlns:p14="http://schemas.microsoft.com/office/powerpoint/2010/main" val="853400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8A25A-82F2-D06E-4A42-2B9809959E3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DDEBA57-47CF-9BB1-212C-EC6FDE525A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631C185-3E79-E888-0B20-00F6EDB0D387}"/>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1EFE79F-4680-5DA9-7BDD-C4209051820D}"/>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Budget Estimation</a:t>
            </a:r>
          </a:p>
        </p:txBody>
      </p:sp>
      <p:sp>
        <p:nvSpPr>
          <p:cNvPr id="5" name="TextBox 4">
            <a:extLst>
              <a:ext uri="{FF2B5EF4-FFF2-40B4-BE49-F238E27FC236}">
                <a16:creationId xmlns:a16="http://schemas.microsoft.com/office/drawing/2014/main" id="{056C4FAF-A555-4D94-3BA6-69CB98F322D6}"/>
              </a:ext>
            </a:extLst>
          </p:cNvPr>
          <p:cNvSpPr txBox="1"/>
          <p:nvPr/>
        </p:nvSpPr>
        <p:spPr>
          <a:xfrm>
            <a:off x="951925" y="1381358"/>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Infrastructure Costs</a:t>
            </a:r>
          </a:p>
        </p:txBody>
      </p:sp>
      <p:graphicFrame>
        <p:nvGraphicFramePr>
          <p:cNvPr id="4" name="Table 3">
            <a:extLst>
              <a:ext uri="{FF2B5EF4-FFF2-40B4-BE49-F238E27FC236}">
                <a16:creationId xmlns:a16="http://schemas.microsoft.com/office/drawing/2014/main" id="{6180370D-5AEA-2E91-6BD4-4B8F4F3EDFC2}"/>
              </a:ext>
            </a:extLst>
          </p:cNvPr>
          <p:cNvGraphicFramePr>
            <a:graphicFrameLocks noGrp="1"/>
          </p:cNvGraphicFramePr>
          <p:nvPr>
            <p:extLst>
              <p:ext uri="{D42A27DB-BD31-4B8C-83A1-F6EECF244321}">
                <p14:modId xmlns:p14="http://schemas.microsoft.com/office/powerpoint/2010/main" val="3003991320"/>
              </p:ext>
            </p:extLst>
          </p:nvPr>
        </p:nvGraphicFramePr>
        <p:xfrm>
          <a:off x="838200" y="1852454"/>
          <a:ext cx="10515600" cy="4297680"/>
        </p:xfrm>
        <a:graphic>
          <a:graphicData uri="http://schemas.openxmlformats.org/drawingml/2006/table">
            <a:tbl>
              <a:tblPr/>
              <a:tblGrid>
                <a:gridCol w="2103120">
                  <a:extLst>
                    <a:ext uri="{9D8B030D-6E8A-4147-A177-3AD203B41FA5}">
                      <a16:colId xmlns:a16="http://schemas.microsoft.com/office/drawing/2014/main" val="734726383"/>
                    </a:ext>
                  </a:extLst>
                </a:gridCol>
                <a:gridCol w="2103120">
                  <a:extLst>
                    <a:ext uri="{9D8B030D-6E8A-4147-A177-3AD203B41FA5}">
                      <a16:colId xmlns:a16="http://schemas.microsoft.com/office/drawing/2014/main" val="428736681"/>
                    </a:ext>
                  </a:extLst>
                </a:gridCol>
                <a:gridCol w="2103120">
                  <a:extLst>
                    <a:ext uri="{9D8B030D-6E8A-4147-A177-3AD203B41FA5}">
                      <a16:colId xmlns:a16="http://schemas.microsoft.com/office/drawing/2014/main" val="1175604435"/>
                    </a:ext>
                  </a:extLst>
                </a:gridCol>
                <a:gridCol w="2103120">
                  <a:extLst>
                    <a:ext uri="{9D8B030D-6E8A-4147-A177-3AD203B41FA5}">
                      <a16:colId xmlns:a16="http://schemas.microsoft.com/office/drawing/2014/main" val="4242876597"/>
                    </a:ext>
                  </a:extLst>
                </a:gridCol>
                <a:gridCol w="2103120">
                  <a:extLst>
                    <a:ext uri="{9D8B030D-6E8A-4147-A177-3AD203B41FA5}">
                      <a16:colId xmlns:a16="http://schemas.microsoft.com/office/drawing/2014/main" val="1398939481"/>
                    </a:ext>
                  </a:extLst>
                </a:gridCol>
              </a:tblGrid>
              <a:tr h="0">
                <a:tc>
                  <a:txBody>
                    <a:bodyPr/>
                    <a:lstStyle/>
                    <a:p>
                      <a:pPr algn="ctr">
                        <a:buNone/>
                      </a:pPr>
                      <a:r>
                        <a:rPr lang="en-US" dirty="0" err="1"/>
                        <a:t>Dịch</a:t>
                      </a:r>
                      <a:r>
                        <a:rPr lang="en-US" dirty="0"/>
                        <a:t> </a:t>
                      </a:r>
                      <a:r>
                        <a:rPr lang="en-US" dirty="0" err="1"/>
                        <a:t>vụ</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vi-VN"/>
                        <a:t>Số lượng sử dụng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en-US"/>
                        <a:t>Phạm vi Free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vi-VN"/>
                        <a:t>Ước tính chi phí/tháng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en-US" dirty="0" err="1"/>
                        <a:t>Ghi</a:t>
                      </a:r>
                      <a:r>
                        <a:rPr lang="en-US" dirty="0"/>
                        <a:t> </a:t>
                      </a:r>
                      <a:r>
                        <a:rPr lang="en-US" dirty="0" err="1"/>
                        <a:t>chú</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3053828"/>
                  </a:ext>
                </a:extLst>
              </a:tr>
              <a:tr h="0">
                <a:tc>
                  <a:txBody>
                    <a:bodyPr/>
                    <a:lstStyle/>
                    <a:p>
                      <a:pPr>
                        <a:buNone/>
                      </a:pPr>
                      <a:r>
                        <a:rPr lang="en-US" b="0" dirty="0"/>
                        <a:t>API 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~1,000 req/ngày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1M req/tháng 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Trong giới hạn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4238509"/>
                  </a:ext>
                </a:extLst>
              </a:tr>
              <a:tr h="0">
                <a:tc>
                  <a:txBody>
                    <a:bodyPr/>
                    <a:lstStyle/>
                    <a:p>
                      <a:pPr>
                        <a:buNone/>
                      </a:pPr>
                      <a:r>
                        <a:rPr lang="en-US" b="0" dirty="0"/>
                        <a:t>AWS Lambda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dirty="0"/>
                        <a:t>&lt;1M invocations/</a:t>
                      </a:r>
                      <a:r>
                        <a:rPr lang="en-US" b="0" dirty="0" err="1"/>
                        <a:t>tháng</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1M Free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b="0"/>
                        <a:t>Không vượt Free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9870806"/>
                  </a:ext>
                </a:extLst>
              </a:tr>
              <a:tr h="0">
                <a:tc>
                  <a:txBody>
                    <a:bodyPr/>
                    <a:lstStyle/>
                    <a:p>
                      <a:pPr>
                        <a:buNone/>
                      </a:pPr>
                      <a:r>
                        <a:rPr lang="en-US" b="0"/>
                        <a:t>DynamoDB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b="0" dirty="0"/>
                        <a:t>&lt;25 GB, ~100 RCU/WCU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dirty="0"/>
                        <a:t>Free 25 GB + 25 RCU/WCU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Free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3427411"/>
                  </a:ext>
                </a:extLst>
              </a:tr>
              <a:tr h="0">
                <a:tc>
                  <a:txBody>
                    <a:bodyPr/>
                    <a:lstStyle/>
                    <a:p>
                      <a:pPr>
                        <a:buNone/>
                      </a:pPr>
                      <a:r>
                        <a:rPr lang="en-US" b="0"/>
                        <a:t>CodeBuild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~150 build phút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dirty="0"/>
                        <a:t>100 build </a:t>
                      </a:r>
                      <a:r>
                        <a:rPr lang="en-US" b="0" dirty="0" err="1"/>
                        <a:t>phút</a:t>
                      </a:r>
                      <a:r>
                        <a:rPr lang="en-US" b="0" dirty="0"/>
                        <a:t> Free (</a:t>
                      </a:r>
                      <a:r>
                        <a:rPr lang="en-US" b="0" dirty="0" err="1"/>
                        <a:t>tháng</a:t>
                      </a:r>
                      <a:r>
                        <a:rPr lang="en-US" b="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b="0"/>
                        <a:t>Có thể vượt nhẹ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5901126"/>
                  </a:ext>
                </a:extLst>
              </a:tr>
              <a:tr h="0">
                <a:tc>
                  <a:txBody>
                    <a:bodyPr/>
                    <a:lstStyle/>
                    <a:p>
                      <a:pPr>
                        <a:buNone/>
                      </a:pPr>
                      <a:r>
                        <a:rPr lang="en-US" b="0"/>
                        <a:t>CodePipeline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dirty="0" err="1"/>
                        <a:t>Miễn</a:t>
                      </a:r>
                      <a:r>
                        <a:rPr lang="en-US" b="0" dirty="0"/>
                        <a:t> </a:t>
                      </a:r>
                      <a:r>
                        <a:rPr lang="en-US" b="0" dirty="0" err="1"/>
                        <a:t>phí</a:t>
                      </a:r>
                      <a:r>
                        <a:rPr lang="en-US" b="0" dirty="0"/>
                        <a:t> 1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9821783"/>
                  </a:ext>
                </a:extLst>
              </a:tr>
              <a:tr h="0">
                <a:tc>
                  <a:txBody>
                    <a:bodyPr/>
                    <a:lstStyle/>
                    <a:p>
                      <a:pPr>
                        <a:buNone/>
                      </a:pPr>
                      <a:r>
                        <a:rPr lang="en-US" b="0"/>
                        <a:t>CloudWatch Logs &amp; Alarms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~100 logs/tháng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Free 5GB 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dirty="0"/>
                        <a:t>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220998"/>
                  </a:ext>
                </a:extLst>
              </a:tr>
              <a:tr h="0">
                <a:tc>
                  <a:txBody>
                    <a:bodyPr/>
                    <a:lstStyle/>
                    <a:p>
                      <a:pPr>
                        <a:buNone/>
                      </a:pPr>
                      <a:r>
                        <a:rPr lang="en-US" b="0"/>
                        <a:t>S3 (artifact, 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&lt;1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0"/>
                        <a:t>Free 5GB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278207"/>
                  </a:ext>
                </a:extLst>
              </a:tr>
            </a:tbl>
          </a:graphicData>
        </a:graphic>
      </p:graphicFrame>
    </p:spTree>
    <p:extLst>
      <p:ext uri="{BB962C8B-B14F-4D97-AF65-F5344CB8AC3E}">
        <p14:creationId xmlns:p14="http://schemas.microsoft.com/office/powerpoint/2010/main" val="3605520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DF4A2-B203-8969-5D9C-7F4E063230B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167C429-FDB4-9896-778D-853839E15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E71DEFB-C809-476B-061A-093F7192486D}"/>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A30CB3E-AADB-5DDD-3869-319C3789DF03}"/>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Budget Estimation</a:t>
            </a:r>
          </a:p>
        </p:txBody>
      </p:sp>
      <p:sp>
        <p:nvSpPr>
          <p:cNvPr id="5" name="TextBox 4">
            <a:extLst>
              <a:ext uri="{FF2B5EF4-FFF2-40B4-BE49-F238E27FC236}">
                <a16:creationId xmlns:a16="http://schemas.microsoft.com/office/drawing/2014/main" id="{DAA57B2C-5ED6-43B2-B74D-8EC73C122034}"/>
              </a:ext>
            </a:extLst>
          </p:cNvPr>
          <p:cNvSpPr txBox="1"/>
          <p:nvPr/>
        </p:nvSpPr>
        <p:spPr>
          <a:xfrm>
            <a:off x="820881" y="1630740"/>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Development Costs</a:t>
            </a:r>
          </a:p>
        </p:txBody>
      </p:sp>
      <p:graphicFrame>
        <p:nvGraphicFramePr>
          <p:cNvPr id="4" name="Table 3">
            <a:extLst>
              <a:ext uri="{FF2B5EF4-FFF2-40B4-BE49-F238E27FC236}">
                <a16:creationId xmlns:a16="http://schemas.microsoft.com/office/drawing/2014/main" id="{BA1350A0-FFEB-5A58-0120-E1184AB32F7B}"/>
              </a:ext>
            </a:extLst>
          </p:cNvPr>
          <p:cNvGraphicFramePr>
            <a:graphicFrameLocks noGrp="1"/>
          </p:cNvGraphicFramePr>
          <p:nvPr>
            <p:extLst>
              <p:ext uri="{D42A27DB-BD31-4B8C-83A1-F6EECF244321}">
                <p14:modId xmlns:p14="http://schemas.microsoft.com/office/powerpoint/2010/main" val="3177800198"/>
              </p:ext>
            </p:extLst>
          </p:nvPr>
        </p:nvGraphicFramePr>
        <p:xfrm>
          <a:off x="838200" y="3086894"/>
          <a:ext cx="10515600" cy="2460945"/>
        </p:xfrm>
        <a:graphic>
          <a:graphicData uri="http://schemas.openxmlformats.org/drawingml/2006/table">
            <a:tbl>
              <a:tblPr/>
              <a:tblGrid>
                <a:gridCol w="3505200">
                  <a:extLst>
                    <a:ext uri="{9D8B030D-6E8A-4147-A177-3AD203B41FA5}">
                      <a16:colId xmlns:a16="http://schemas.microsoft.com/office/drawing/2014/main" val="2227356875"/>
                    </a:ext>
                  </a:extLst>
                </a:gridCol>
                <a:gridCol w="3505200">
                  <a:extLst>
                    <a:ext uri="{9D8B030D-6E8A-4147-A177-3AD203B41FA5}">
                      <a16:colId xmlns:a16="http://schemas.microsoft.com/office/drawing/2014/main" val="355760416"/>
                    </a:ext>
                  </a:extLst>
                </a:gridCol>
                <a:gridCol w="3505200">
                  <a:extLst>
                    <a:ext uri="{9D8B030D-6E8A-4147-A177-3AD203B41FA5}">
                      <a16:colId xmlns:a16="http://schemas.microsoft.com/office/drawing/2014/main" val="2620324075"/>
                    </a:ext>
                  </a:extLst>
                </a:gridCol>
              </a:tblGrid>
              <a:tr h="0">
                <a:tc>
                  <a:txBody>
                    <a:bodyPr/>
                    <a:lstStyle/>
                    <a:p>
                      <a:pPr algn="ctr">
                        <a:lnSpc>
                          <a:spcPct val="150000"/>
                        </a:lnSpc>
                        <a:buNone/>
                      </a:pPr>
                      <a:r>
                        <a:rPr lang="en-US" sz="2000" dirty="0">
                          <a:latin typeface="Arial" panose="020B0604020202020204" pitchFamily="34" charset="0"/>
                          <a:cs typeface="Arial" panose="020B0604020202020204" pitchFamily="34" charset="0"/>
                        </a:rPr>
                        <a:t>Thành </a:t>
                      </a:r>
                      <a:r>
                        <a:rPr lang="en-US" sz="2000" dirty="0" err="1">
                          <a:latin typeface="Arial" panose="020B0604020202020204" pitchFamily="34" charset="0"/>
                          <a:cs typeface="Arial" panose="020B0604020202020204" pitchFamily="34" charset="0"/>
                        </a:rPr>
                        <a:t>phần</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Chi </a:t>
                      </a:r>
                      <a:r>
                        <a:rPr lang="en-US" sz="2000" dirty="0" err="1">
                          <a:latin typeface="Arial" panose="020B0604020202020204" pitchFamily="34" charset="0"/>
                          <a:cs typeface="Arial" panose="020B0604020202020204" pitchFamily="34" charset="0"/>
                        </a:rPr>
                        <a:t>phí</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Ghi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783560512"/>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OpenAPI Spec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viết</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sẵn</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0800706"/>
                  </a:ext>
                </a:extLst>
              </a:tr>
              <a:tr h="0">
                <a:tc>
                  <a:txBody>
                    <a:bodyPr/>
                    <a:lstStyle/>
                    <a:p>
                      <a:pPr>
                        <a:lnSpc>
                          <a:spcPct val="150000"/>
                        </a:lnSpc>
                        <a:buNone/>
                      </a:pPr>
                      <a:r>
                        <a:rPr lang="en-US" sz="2000">
                          <a:latin typeface="Arial" panose="020B0604020202020204" pitchFamily="34" charset="0"/>
                          <a:cs typeface="Arial" panose="020B0604020202020204" pitchFamily="34" charset="0"/>
                        </a:rPr>
                        <a:t>Code generation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Dùng openapi-generator-cli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9773185"/>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Development +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Local + AWS Lambda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100692"/>
                  </a:ext>
                </a:extLst>
              </a:tr>
              <a:tr h="0">
                <a:tc>
                  <a:txBody>
                    <a:bodyPr/>
                    <a:lstStyle/>
                    <a:p>
                      <a:pPr>
                        <a:lnSpc>
                          <a:spcPct val="150000"/>
                        </a:lnSpc>
                        <a:buNone/>
                      </a:pPr>
                      <a:r>
                        <a:rPr lang="en-US" sz="2000">
                          <a:latin typeface="Arial" panose="020B0604020202020204" pitchFamily="34" charset="0"/>
                          <a:cs typeface="Arial" panose="020B0604020202020204" pitchFamily="34" charset="0"/>
                        </a:rPr>
                        <a:t>Documentation (Redoc)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latin typeface="Arial" panose="020B0604020202020204" pitchFamily="34" charset="0"/>
                          <a:cs typeface="Arial" panose="020B0604020202020204" pitchFamily="34" charset="0"/>
                        </a:rPr>
                        <a:t>Redoc</a:t>
                      </a:r>
                      <a:r>
                        <a:rPr lang="en-US" sz="2000" dirty="0">
                          <a:latin typeface="Arial" panose="020B0604020202020204" pitchFamily="34" charset="0"/>
                          <a:cs typeface="Arial" panose="020B0604020202020204" pitchFamily="34" charset="0"/>
                        </a:rPr>
                        <a:t> CLI </a:t>
                      </a:r>
                      <a:r>
                        <a:rPr lang="en-US" sz="2000" dirty="0" err="1">
                          <a:latin typeface="Arial" panose="020B0604020202020204" pitchFamily="34" charset="0"/>
                          <a:cs typeface="Arial" panose="020B0604020202020204" pitchFamily="34" charset="0"/>
                        </a:rPr>
                        <a:t>miễn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phí</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730001"/>
                  </a:ext>
                </a:extLst>
              </a:tr>
            </a:tbl>
          </a:graphicData>
        </a:graphic>
      </p:graphicFrame>
    </p:spTree>
    <p:extLst>
      <p:ext uri="{BB962C8B-B14F-4D97-AF65-F5344CB8AC3E}">
        <p14:creationId xmlns:p14="http://schemas.microsoft.com/office/powerpoint/2010/main" val="3018945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CAC05-83CB-E355-CEF2-853107909C23}"/>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355F384-BD23-F2BC-E924-831C25629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F29529F-32E0-5E8A-B9CC-AE8733DEB67D}"/>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F53E2A6-F9B6-73F2-0150-3F9C12FC86E0}"/>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Budget Estimation</a:t>
            </a:r>
          </a:p>
        </p:txBody>
      </p:sp>
      <p:sp>
        <p:nvSpPr>
          <p:cNvPr id="5" name="TextBox 4">
            <a:extLst>
              <a:ext uri="{FF2B5EF4-FFF2-40B4-BE49-F238E27FC236}">
                <a16:creationId xmlns:a16="http://schemas.microsoft.com/office/drawing/2014/main" id="{9A01EF7C-6DC5-A149-A53F-EE25700C9DE8}"/>
              </a:ext>
            </a:extLst>
          </p:cNvPr>
          <p:cNvSpPr txBox="1"/>
          <p:nvPr/>
        </p:nvSpPr>
        <p:spPr>
          <a:xfrm>
            <a:off x="592281" y="1454094"/>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Operational Costs</a:t>
            </a:r>
          </a:p>
        </p:txBody>
      </p:sp>
      <p:graphicFrame>
        <p:nvGraphicFramePr>
          <p:cNvPr id="4" name="Table 3">
            <a:extLst>
              <a:ext uri="{FF2B5EF4-FFF2-40B4-BE49-F238E27FC236}">
                <a16:creationId xmlns:a16="http://schemas.microsoft.com/office/drawing/2014/main" id="{B8359DCD-6ABE-2880-8085-F62D85CD2A5E}"/>
              </a:ext>
            </a:extLst>
          </p:cNvPr>
          <p:cNvGraphicFramePr>
            <a:graphicFrameLocks noGrp="1"/>
          </p:cNvGraphicFramePr>
          <p:nvPr>
            <p:extLst>
              <p:ext uri="{D42A27DB-BD31-4B8C-83A1-F6EECF244321}">
                <p14:modId xmlns:p14="http://schemas.microsoft.com/office/powerpoint/2010/main" val="3056188188"/>
              </p:ext>
            </p:extLst>
          </p:nvPr>
        </p:nvGraphicFramePr>
        <p:xfrm>
          <a:off x="838200" y="3132614"/>
          <a:ext cx="10515600" cy="1968756"/>
        </p:xfrm>
        <a:graphic>
          <a:graphicData uri="http://schemas.openxmlformats.org/drawingml/2006/table">
            <a:tbl>
              <a:tblPr/>
              <a:tblGrid>
                <a:gridCol w="3089564">
                  <a:extLst>
                    <a:ext uri="{9D8B030D-6E8A-4147-A177-3AD203B41FA5}">
                      <a16:colId xmlns:a16="http://schemas.microsoft.com/office/drawing/2014/main" val="3257009261"/>
                    </a:ext>
                  </a:extLst>
                </a:gridCol>
                <a:gridCol w="2784763">
                  <a:extLst>
                    <a:ext uri="{9D8B030D-6E8A-4147-A177-3AD203B41FA5}">
                      <a16:colId xmlns:a16="http://schemas.microsoft.com/office/drawing/2014/main" val="1969454497"/>
                    </a:ext>
                  </a:extLst>
                </a:gridCol>
                <a:gridCol w="4641273">
                  <a:extLst>
                    <a:ext uri="{9D8B030D-6E8A-4147-A177-3AD203B41FA5}">
                      <a16:colId xmlns:a16="http://schemas.microsoft.com/office/drawing/2014/main" val="367660329"/>
                    </a:ext>
                  </a:extLst>
                </a:gridCol>
              </a:tblGrid>
              <a:tr h="0">
                <a:tc>
                  <a:txBody>
                    <a:bodyPr/>
                    <a:lstStyle/>
                    <a:p>
                      <a:pPr algn="ctr">
                        <a:lnSpc>
                          <a:spcPct val="150000"/>
                        </a:lnSpc>
                        <a:buNone/>
                      </a:pPr>
                      <a:r>
                        <a:rPr lang="en-US" sz="2000" dirty="0">
                          <a:latin typeface="Arial" panose="020B0604020202020204" pitchFamily="34" charset="0"/>
                          <a:cs typeface="Arial" panose="020B0604020202020204" pitchFamily="34" charset="0"/>
                        </a:rPr>
                        <a:t>Thành </a:t>
                      </a:r>
                      <a:r>
                        <a:rPr lang="en-US" sz="2000" dirty="0" err="1">
                          <a:latin typeface="Arial" panose="020B0604020202020204" pitchFamily="34" charset="0"/>
                          <a:cs typeface="Arial" panose="020B0604020202020204" pitchFamily="34" charset="0"/>
                        </a:rPr>
                        <a:t>phần</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vi-VN" sz="2000" dirty="0">
                          <a:latin typeface="Arial" panose="020B0604020202020204" pitchFamily="34" charset="0"/>
                          <a:cs typeface="Arial" panose="020B0604020202020204" pitchFamily="34" charset="0"/>
                        </a:rPr>
                        <a:t>Ước tính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Ghi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913551470"/>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CI/CD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$0–2/</a:t>
                      </a:r>
                      <a:r>
                        <a:rPr lang="en-US" sz="2000" dirty="0" err="1">
                          <a:latin typeface="Arial" panose="020B0604020202020204" pitchFamily="34" charset="0"/>
                          <a:cs typeface="Arial" panose="020B0604020202020204" pitchFamily="34" charset="0"/>
                        </a:rPr>
                        <a:t>tháng</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Dựa trên số lần 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1452003"/>
                  </a:ext>
                </a:extLst>
              </a:tr>
              <a:tr h="0">
                <a:tc>
                  <a:txBody>
                    <a:bodyPr/>
                    <a:lstStyle/>
                    <a:p>
                      <a:pPr>
                        <a:lnSpc>
                          <a:spcPct val="150000"/>
                        </a:lnSpc>
                        <a:buNone/>
                      </a:pPr>
                      <a:r>
                        <a:rPr lang="en-US" sz="2000">
                          <a:latin typeface="Arial" panose="020B0604020202020204" pitchFamily="34" charset="0"/>
                          <a:cs typeface="Arial" panose="020B0604020202020204" pitchFamily="34" charset="0"/>
                        </a:rPr>
                        <a:t>Monitoring 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a:latin typeface="Arial" panose="020B0604020202020204" pitchFamily="34" charset="0"/>
                          <a:cs typeface="Arial" panose="020B0604020202020204" pitchFamily="34" charset="0"/>
                        </a:rPr>
                        <a:t>$0–1/</a:t>
                      </a:r>
                      <a:r>
                        <a:rPr lang="en-US" sz="2000" dirty="0" err="1">
                          <a:latin typeface="Arial" panose="020B0604020202020204" pitchFamily="34" charset="0"/>
                          <a:cs typeface="Arial" panose="020B0604020202020204" pitchFamily="34" charset="0"/>
                        </a:rPr>
                        <a:t>tháng</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Nếu bật X-Ray quá nhiều có thể 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019845"/>
                  </a:ext>
                </a:extLst>
              </a:tr>
              <a:tr h="0">
                <a:tc>
                  <a:txBody>
                    <a:bodyPr/>
                    <a:lstStyle/>
                    <a:p>
                      <a:pPr>
                        <a:lnSpc>
                          <a:spcPct val="150000"/>
                        </a:lnSpc>
                        <a:buNone/>
                      </a:pPr>
                      <a:r>
                        <a:rPr lang="en-US" sz="2000">
                          <a:latin typeface="Arial" panose="020B0604020202020204" pitchFamily="34" charset="0"/>
                          <a:cs typeface="Arial" panose="020B0604020202020204" pitchFamily="34" charset="0"/>
                        </a:rPr>
                        <a:t>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Tùy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cầu</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latin typeface="Arial" panose="020B0604020202020204" pitchFamily="34" charset="0"/>
                          <a:cs typeface="Arial" panose="020B0604020202020204" pitchFamily="34" charset="0"/>
                        </a:rPr>
                        <a:t>Nếu</a:t>
                      </a:r>
                      <a:r>
                        <a:rPr lang="en-US" sz="2000" dirty="0">
                          <a:latin typeface="Arial" panose="020B0604020202020204" pitchFamily="34" charset="0"/>
                          <a:cs typeface="Arial" panose="020B0604020202020204" pitchFamily="34" charset="0"/>
                        </a:rPr>
                        <a:t> scale </a:t>
                      </a:r>
                      <a:r>
                        <a:rPr lang="en-US" sz="2000" dirty="0" err="1">
                          <a:latin typeface="Arial" panose="020B0604020202020204" pitchFamily="34" charset="0"/>
                          <a:cs typeface="Arial" panose="020B0604020202020204" pitchFamily="34" charset="0"/>
                        </a:rPr>
                        <a:t>cao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xem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459589"/>
                  </a:ext>
                </a:extLst>
              </a:tr>
            </a:tbl>
          </a:graphicData>
        </a:graphic>
      </p:graphicFrame>
    </p:spTree>
    <p:extLst>
      <p:ext uri="{BB962C8B-B14F-4D97-AF65-F5344CB8AC3E}">
        <p14:creationId xmlns:p14="http://schemas.microsoft.com/office/powerpoint/2010/main" val="795202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487EF-2BAE-76E0-5EF0-BA899841833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4F440F23-7E5A-0DD7-A6F3-3E7102109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1FA1D43-0AD6-299B-306C-9B7A3A830CC5}"/>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2763E07-BF4E-AF9D-90AF-2E4B31E9BB84}"/>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Budget Estimation</a:t>
            </a:r>
          </a:p>
        </p:txBody>
      </p:sp>
      <p:sp>
        <p:nvSpPr>
          <p:cNvPr id="5" name="TextBox 4">
            <a:extLst>
              <a:ext uri="{FF2B5EF4-FFF2-40B4-BE49-F238E27FC236}">
                <a16:creationId xmlns:a16="http://schemas.microsoft.com/office/drawing/2014/main" id="{EB990488-3437-0925-D5BE-4096F75B8F47}"/>
              </a:ext>
            </a:extLst>
          </p:cNvPr>
          <p:cNvSpPr txBox="1"/>
          <p:nvPr/>
        </p:nvSpPr>
        <p:spPr>
          <a:xfrm>
            <a:off x="592281" y="1474876"/>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ROI &amp; Cost Effectiveness</a:t>
            </a:r>
          </a:p>
        </p:txBody>
      </p:sp>
      <p:graphicFrame>
        <p:nvGraphicFramePr>
          <p:cNvPr id="4" name="Table 3">
            <a:extLst>
              <a:ext uri="{FF2B5EF4-FFF2-40B4-BE49-F238E27FC236}">
                <a16:creationId xmlns:a16="http://schemas.microsoft.com/office/drawing/2014/main" id="{F6863156-A5D8-7784-DED2-84521B6A3BB2}"/>
              </a:ext>
            </a:extLst>
          </p:cNvPr>
          <p:cNvGraphicFramePr>
            <a:graphicFrameLocks noGrp="1"/>
          </p:cNvGraphicFramePr>
          <p:nvPr>
            <p:extLst>
              <p:ext uri="{D42A27DB-BD31-4B8C-83A1-F6EECF244321}">
                <p14:modId xmlns:p14="http://schemas.microsoft.com/office/powerpoint/2010/main" val="126752658"/>
              </p:ext>
            </p:extLst>
          </p:nvPr>
        </p:nvGraphicFramePr>
        <p:xfrm>
          <a:off x="516081" y="2158067"/>
          <a:ext cx="10515600" cy="4289745"/>
        </p:xfrm>
        <a:graphic>
          <a:graphicData uri="http://schemas.openxmlformats.org/drawingml/2006/table">
            <a:tbl>
              <a:tblPr/>
              <a:tblGrid>
                <a:gridCol w="5257800">
                  <a:extLst>
                    <a:ext uri="{9D8B030D-6E8A-4147-A177-3AD203B41FA5}">
                      <a16:colId xmlns:a16="http://schemas.microsoft.com/office/drawing/2014/main" val="4086710227"/>
                    </a:ext>
                  </a:extLst>
                </a:gridCol>
                <a:gridCol w="5257800">
                  <a:extLst>
                    <a:ext uri="{9D8B030D-6E8A-4147-A177-3AD203B41FA5}">
                      <a16:colId xmlns:a16="http://schemas.microsoft.com/office/drawing/2014/main" val="1170630662"/>
                    </a:ext>
                  </a:extLst>
                </a:gridCol>
              </a:tblGrid>
              <a:tr h="0">
                <a:tc>
                  <a:txBody>
                    <a:bodyPr/>
                    <a:lstStyle/>
                    <a:p>
                      <a:pPr algn="ctr">
                        <a:lnSpc>
                          <a:spcPct val="150000"/>
                        </a:lnSpc>
                        <a:buNone/>
                      </a:pPr>
                      <a:r>
                        <a:rPr lang="en-US" sz="2000">
                          <a:latin typeface="Arial" panose="020B0604020202020204" pitchFamily="34" charset="0"/>
                          <a:cs typeface="Arial" panose="020B0604020202020204" pitchFamily="34" charset="0"/>
                        </a:rPr>
                        <a:t>Hạng mục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Miêu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tả</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935701900"/>
                  </a:ext>
                </a:extLst>
              </a:tr>
              <a:tr h="0">
                <a:tc>
                  <a:txBody>
                    <a:bodyPr/>
                    <a:lstStyle/>
                    <a:p>
                      <a:pPr>
                        <a:lnSpc>
                          <a:spcPct val="150000"/>
                        </a:lnSpc>
                        <a:buNone/>
                      </a:pPr>
                      <a:r>
                        <a:rPr lang="en-US" sz="2000" b="1" dirty="0">
                          <a:latin typeface="Arial" panose="020B0604020202020204" pitchFamily="34" charset="0"/>
                          <a:cs typeface="Arial" panose="020B0604020202020204" pitchFamily="34" charset="0"/>
                        </a:rPr>
                        <a:t>Savings</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100% chi phí dịch vụ server &amp; ops nếu giữ ở mức 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88953"/>
                  </a:ext>
                </a:extLst>
              </a:tr>
              <a:tr h="0">
                <a:tc>
                  <a:txBody>
                    <a:bodyPr/>
                    <a:lstStyle/>
                    <a:p>
                      <a:pPr>
                        <a:lnSpc>
                          <a:spcPct val="150000"/>
                        </a:lnSpc>
                        <a:buNone/>
                      </a:pPr>
                      <a:r>
                        <a:rPr lang="en-US" sz="2000" b="1" dirty="0">
                          <a:latin typeface="Arial" panose="020B0604020202020204" pitchFamily="34" charset="0"/>
                          <a:cs typeface="Arial" panose="020B0604020202020204" pitchFamily="34" charset="0"/>
                        </a:rPr>
                        <a:t>Scalability</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Có thể scale không thay đổi kiến trúc, chỉ cần nâng cấp quota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153950"/>
                  </a:ext>
                </a:extLst>
              </a:tr>
              <a:tr h="0">
                <a:tc>
                  <a:txBody>
                    <a:bodyPr/>
                    <a:lstStyle/>
                    <a:p>
                      <a:pPr>
                        <a:lnSpc>
                          <a:spcPct val="150000"/>
                        </a:lnSpc>
                        <a:buNone/>
                      </a:pPr>
                      <a:r>
                        <a:rPr lang="en-US" sz="2000" b="1">
                          <a:latin typeface="Arial" panose="020B0604020202020204" pitchFamily="34" charset="0"/>
                          <a:cs typeface="Arial" panose="020B0604020202020204" pitchFamily="34" charset="0"/>
                        </a:rPr>
                        <a:t>Time to Deploy</a:t>
                      </a:r>
                      <a:endParaRPr lang="en-US" sz="20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Chỉ mất ~1 tuần để hoàn thiện toàn bộ quy trình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789011"/>
                  </a:ext>
                </a:extLst>
              </a:tr>
              <a:tr h="0">
                <a:tc>
                  <a:txBody>
                    <a:bodyPr/>
                    <a:lstStyle/>
                    <a:p>
                      <a:pPr>
                        <a:lnSpc>
                          <a:spcPct val="150000"/>
                        </a:lnSpc>
                        <a:buNone/>
                      </a:pPr>
                      <a:r>
                        <a:rPr lang="en-US" sz="2000" b="1">
                          <a:latin typeface="Arial" panose="020B0604020202020204" pitchFamily="34" charset="0"/>
                          <a:cs typeface="Arial" panose="020B0604020202020204" pitchFamily="34" charset="0"/>
                        </a:rPr>
                        <a:t>Reuse</a:t>
                      </a:r>
                      <a:endParaRPr lang="en-US" sz="20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bộ</a:t>
                      </a:r>
                      <a:r>
                        <a:rPr lang="en-US" sz="2000" dirty="0">
                          <a:latin typeface="Arial" panose="020B0604020202020204" pitchFamily="34" charset="0"/>
                          <a:cs typeface="Arial" panose="020B0604020202020204" pitchFamily="34" charset="0"/>
                        </a:rPr>
                        <a:t> workflow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API </a:t>
                      </a:r>
                      <a:r>
                        <a:rPr lang="en-US" sz="2000" dirty="0" err="1">
                          <a:latin typeface="Arial" panose="020B0604020202020204" pitchFamily="34" charset="0"/>
                          <a:cs typeface="Arial" panose="020B0604020202020204" pitchFamily="34" charset="0"/>
                        </a:rPr>
                        <a:t>khác</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4088237"/>
                  </a:ext>
                </a:extLst>
              </a:tr>
            </a:tbl>
          </a:graphicData>
        </a:graphic>
      </p:graphicFrame>
    </p:spTree>
    <p:extLst>
      <p:ext uri="{BB962C8B-B14F-4D97-AF65-F5344CB8AC3E}">
        <p14:creationId xmlns:p14="http://schemas.microsoft.com/office/powerpoint/2010/main" val="2571282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9BB4-6241-97D3-D96C-391D0294C343}"/>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BAE6B33-97CA-6C0F-C746-BBA4CDE22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B01C644-2A0D-0F5C-995D-96B28BB1F1C9}"/>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7BA1618-974A-E31A-ADA0-FB3C43C2BC4D}"/>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Budget Estimation</a:t>
            </a:r>
          </a:p>
        </p:txBody>
      </p:sp>
      <p:sp>
        <p:nvSpPr>
          <p:cNvPr id="5" name="TextBox 4">
            <a:extLst>
              <a:ext uri="{FF2B5EF4-FFF2-40B4-BE49-F238E27FC236}">
                <a16:creationId xmlns:a16="http://schemas.microsoft.com/office/drawing/2014/main" id="{52DC18EC-1028-7F64-3CCE-31800A7596AF}"/>
              </a:ext>
            </a:extLst>
          </p:cNvPr>
          <p:cNvSpPr txBox="1"/>
          <p:nvPr/>
        </p:nvSpPr>
        <p:spPr>
          <a:xfrm>
            <a:off x="446809" y="1558003"/>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Cost Optimization Strategies</a:t>
            </a:r>
          </a:p>
        </p:txBody>
      </p:sp>
      <p:sp>
        <p:nvSpPr>
          <p:cNvPr id="7" name="TextBox 6">
            <a:extLst>
              <a:ext uri="{FF2B5EF4-FFF2-40B4-BE49-F238E27FC236}">
                <a16:creationId xmlns:a16="http://schemas.microsoft.com/office/drawing/2014/main" id="{EF003DF1-E5CE-0411-1A0F-ADCE39FD9581}"/>
              </a:ext>
            </a:extLst>
          </p:cNvPr>
          <p:cNvSpPr txBox="1"/>
          <p:nvPr/>
        </p:nvSpPr>
        <p:spPr>
          <a:xfrm>
            <a:off x="951924" y="2390728"/>
            <a:ext cx="10498857" cy="2793842"/>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Tận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Free Tier </a:t>
            </a:r>
            <a:r>
              <a:rPr lang="en-US" sz="2400" dirty="0" err="1">
                <a:latin typeface="Arial" panose="020B0604020202020204" pitchFamily="34" charset="0"/>
                <a:cs typeface="Arial" panose="020B0604020202020204" pitchFamily="34" charset="0"/>
              </a:rPr>
              <a:t>tối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a:t>
            </a:r>
            <a:r>
              <a:rPr lang="en-US" sz="2400" dirty="0">
                <a:latin typeface="Arial" panose="020B0604020202020204" pitchFamily="34" charset="0"/>
                <a:cs typeface="Arial" panose="020B0604020202020204" pitchFamily="34" charset="0"/>
              </a:rPr>
              <a:t> (Lambda, API Gateway, DynamoDB)</a:t>
            </a: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Sử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IAM role </a:t>
            </a:r>
            <a:r>
              <a:rPr lang="en-US" sz="2400" dirty="0" err="1">
                <a:latin typeface="Arial" panose="020B0604020202020204" pitchFamily="34" charset="0"/>
                <a:cs typeface="Arial" panose="020B0604020202020204" pitchFamily="34" charset="0"/>
              </a:rPr>
              <a:t>dùng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CodePipeline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Lambda</a:t>
            </a: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Tắt</a:t>
            </a:r>
            <a:r>
              <a:rPr lang="en-US" sz="2400" dirty="0">
                <a:latin typeface="Arial" panose="020B0604020202020204" pitchFamily="34" charset="0"/>
                <a:cs typeface="Arial" panose="020B0604020202020204" pitchFamily="34" charset="0"/>
              </a:rPr>
              <a:t> X-Ray sampling </a:t>
            </a:r>
            <a:r>
              <a:rPr lang="en-US" sz="2400" dirty="0" err="1">
                <a:latin typeface="Arial" panose="020B0604020202020204" pitchFamily="34" charset="0"/>
                <a:cs typeface="Arial" panose="020B0604020202020204" pitchFamily="34" charset="0"/>
              </a:rPr>
              <a:t>khi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kiệm</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Dọn</a:t>
            </a:r>
            <a:r>
              <a:rPr lang="en-US" sz="2400" dirty="0">
                <a:latin typeface="Arial" panose="020B0604020202020204" pitchFamily="34" charset="0"/>
                <a:cs typeface="Arial" panose="020B0604020202020204" pitchFamily="34" charset="0"/>
              </a:rPr>
              <a:t> CloudWatch Logs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giữ</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lâu</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a:latin typeface="Arial" panose="020B0604020202020204" pitchFamily="34" charset="0"/>
                <a:cs typeface="Arial" panose="020B0604020202020204" pitchFamily="34" charset="0"/>
              </a:rPr>
              <a:t>Build </a:t>
            </a:r>
            <a:r>
              <a:rPr lang="en-US" sz="2400" dirty="0" err="1">
                <a:latin typeface="Arial" panose="020B0604020202020204" pitchFamily="34" charset="0"/>
                <a:cs typeface="Arial" panose="020B0604020202020204" pitchFamily="34" charset="0"/>
              </a:rPr>
              <a:t>cục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phụ</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CodeBuild</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lần</a:t>
            </a:r>
            <a:r>
              <a:rPr lang="en-US" sz="2400" dirty="0">
                <a:latin typeface="Arial" panose="020B0604020202020204" pitchFamily="34" charset="0"/>
                <a:cs typeface="Arial" panose="020B0604020202020204" pitchFamily="34" charset="0"/>
              </a:rPr>
              <a:t> push </a:t>
            </a:r>
            <a:r>
              <a:rPr lang="en-US" sz="2400" dirty="0" err="1">
                <a:latin typeface="Arial" panose="020B0604020202020204" pitchFamily="34" charset="0"/>
                <a:cs typeface="Arial" panose="020B0604020202020204" pitchFamily="34" charset="0"/>
              </a:rPr>
              <a:t>nhiều</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949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A613-2C08-81F7-A97F-338BEE6266E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B8333B40-2DC9-79C9-788B-C61248A35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6F22E5B-6648-D0D9-73BA-367201163522}"/>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FF93E27-6402-5F7D-14B9-F843C3AFB808}"/>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Risk Assessment</a:t>
            </a:r>
          </a:p>
        </p:txBody>
      </p:sp>
      <p:sp>
        <p:nvSpPr>
          <p:cNvPr id="5" name="TextBox 4">
            <a:extLst>
              <a:ext uri="{FF2B5EF4-FFF2-40B4-BE49-F238E27FC236}">
                <a16:creationId xmlns:a16="http://schemas.microsoft.com/office/drawing/2014/main" id="{2E34B728-464D-C161-EAC7-3A2B213627EE}"/>
              </a:ext>
            </a:extLst>
          </p:cNvPr>
          <p:cNvSpPr txBox="1"/>
          <p:nvPr/>
        </p:nvSpPr>
        <p:spPr>
          <a:xfrm>
            <a:off x="613062" y="1339592"/>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Risk Matrix</a:t>
            </a:r>
          </a:p>
        </p:txBody>
      </p:sp>
      <p:graphicFrame>
        <p:nvGraphicFramePr>
          <p:cNvPr id="4" name="Table 3">
            <a:extLst>
              <a:ext uri="{FF2B5EF4-FFF2-40B4-BE49-F238E27FC236}">
                <a16:creationId xmlns:a16="http://schemas.microsoft.com/office/drawing/2014/main" id="{7EF937A4-59BF-B439-6869-C01799DF7277}"/>
              </a:ext>
            </a:extLst>
          </p:cNvPr>
          <p:cNvGraphicFramePr>
            <a:graphicFrameLocks noGrp="1"/>
          </p:cNvGraphicFramePr>
          <p:nvPr>
            <p:extLst>
              <p:ext uri="{D42A27DB-BD31-4B8C-83A1-F6EECF244321}">
                <p14:modId xmlns:p14="http://schemas.microsoft.com/office/powerpoint/2010/main" val="2951568903"/>
              </p:ext>
            </p:extLst>
          </p:nvPr>
        </p:nvGraphicFramePr>
        <p:xfrm>
          <a:off x="722167" y="1953906"/>
          <a:ext cx="10747665" cy="4797734"/>
        </p:xfrm>
        <a:graphic>
          <a:graphicData uri="http://schemas.openxmlformats.org/drawingml/2006/table">
            <a:tbl>
              <a:tblPr/>
              <a:tblGrid>
                <a:gridCol w="2722418">
                  <a:extLst>
                    <a:ext uri="{9D8B030D-6E8A-4147-A177-3AD203B41FA5}">
                      <a16:colId xmlns:a16="http://schemas.microsoft.com/office/drawing/2014/main" val="768374971"/>
                    </a:ext>
                  </a:extLst>
                </a:gridCol>
                <a:gridCol w="2088573">
                  <a:extLst>
                    <a:ext uri="{9D8B030D-6E8A-4147-A177-3AD203B41FA5}">
                      <a16:colId xmlns:a16="http://schemas.microsoft.com/office/drawing/2014/main" val="929278738"/>
                    </a:ext>
                  </a:extLst>
                </a:gridCol>
                <a:gridCol w="1859972">
                  <a:extLst>
                    <a:ext uri="{9D8B030D-6E8A-4147-A177-3AD203B41FA5}">
                      <a16:colId xmlns:a16="http://schemas.microsoft.com/office/drawing/2014/main" val="611404294"/>
                    </a:ext>
                  </a:extLst>
                </a:gridCol>
                <a:gridCol w="2223655">
                  <a:extLst>
                    <a:ext uri="{9D8B030D-6E8A-4147-A177-3AD203B41FA5}">
                      <a16:colId xmlns:a16="http://schemas.microsoft.com/office/drawing/2014/main" val="2336986772"/>
                    </a:ext>
                  </a:extLst>
                </a:gridCol>
                <a:gridCol w="1853047">
                  <a:extLst>
                    <a:ext uri="{9D8B030D-6E8A-4147-A177-3AD203B41FA5}">
                      <a16:colId xmlns:a16="http://schemas.microsoft.com/office/drawing/2014/main" val="594699352"/>
                    </a:ext>
                  </a:extLst>
                </a:gridCol>
              </a:tblGrid>
              <a:tr h="280731">
                <a:tc>
                  <a:txBody>
                    <a:bodyPr/>
                    <a:lstStyle/>
                    <a:p>
                      <a:pPr algn="ctr">
                        <a:buNone/>
                      </a:pPr>
                      <a:r>
                        <a:rPr lang="en-US" sz="1800" dirty="0" err="1">
                          <a:latin typeface="Arial" panose="020B0604020202020204" pitchFamily="34" charset="0"/>
                          <a:cs typeface="Arial" panose="020B0604020202020204" pitchFamily="34" charset="0"/>
                        </a:rPr>
                        <a:t>Rủi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en-US" sz="1800" dirty="0" err="1">
                          <a:latin typeface="Arial" panose="020B0604020202020204" pitchFamily="34" charset="0"/>
                          <a:cs typeface="Arial" panose="020B0604020202020204" pitchFamily="34" charset="0"/>
                        </a:rPr>
                        <a:t>Loại</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en-US" sz="1800" dirty="0" err="1">
                          <a:latin typeface="Arial" panose="020B0604020202020204" pitchFamily="34" charset="0"/>
                          <a:cs typeface="Arial" panose="020B0604020202020204" pitchFamily="34" charset="0"/>
                        </a:rPr>
                        <a:t>Xác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suất</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vi-VN" sz="1800" dirty="0">
                          <a:latin typeface="Arial" panose="020B0604020202020204" pitchFamily="34" charset="0"/>
                          <a:cs typeface="Arial" panose="020B0604020202020204" pitchFamily="34" charset="0"/>
                        </a:rPr>
                        <a:t>Mức ảnh hưởng</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vi-VN" sz="1800" dirty="0">
                          <a:latin typeface="Arial" panose="020B0604020202020204" pitchFamily="34" charset="0"/>
                          <a:cs typeface="Arial" panose="020B0604020202020204" pitchFamily="34" charset="0"/>
                        </a:rPr>
                        <a:t>Ưu tiên</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314704557"/>
                  </a:ext>
                </a:extLst>
              </a:tr>
              <a:tr h="491280">
                <a:tc>
                  <a:txBody>
                    <a:bodyPr/>
                    <a:lstStyle/>
                    <a:p>
                      <a:pPr>
                        <a:buNone/>
                      </a:pPr>
                      <a:r>
                        <a:rPr lang="en-US" sz="1800">
                          <a:latin typeface="Arial" panose="020B0604020202020204" pitchFamily="34" charset="0"/>
                          <a:cs typeface="Arial" panose="020B0604020202020204" pitchFamily="34" charset="0"/>
                        </a:rPr>
                        <a:t>AWS Free Tier vượt ngưỡng</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Chi </a:t>
                      </a:r>
                      <a:r>
                        <a:rPr lang="en-US" sz="1800" dirty="0" err="1">
                          <a:latin typeface="Arial" panose="020B0604020202020204" pitchFamily="34" charset="0"/>
                          <a:cs typeface="Arial" panose="020B0604020202020204" pitchFamily="34" charset="0"/>
                        </a:rPr>
                        <a:t>phí</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Trung </a:t>
                      </a:r>
                      <a:r>
                        <a:rPr lang="en-US" sz="1800" dirty="0" err="1">
                          <a:latin typeface="Arial" panose="020B0604020202020204" pitchFamily="34" charset="0"/>
                          <a:cs typeface="Arial" panose="020B0604020202020204" pitchFamily="34" charset="0"/>
                        </a:rPr>
                        <a:t>bình</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err="1">
                          <a:latin typeface="Arial" panose="020B0604020202020204" pitchFamily="34" charset="0"/>
                          <a:cs typeface="Arial" panose="020B0604020202020204" pitchFamily="34" charset="0"/>
                        </a:rPr>
                        <a:t>Thấp</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Trung </a:t>
                      </a:r>
                      <a:r>
                        <a:rPr lang="en-US" sz="1800" dirty="0" err="1">
                          <a:latin typeface="Arial" panose="020B0604020202020204" pitchFamily="34" charset="0"/>
                          <a:cs typeface="Arial" panose="020B0604020202020204" pitchFamily="34" charset="0"/>
                        </a:rPr>
                        <a:t>bình</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6670818"/>
                  </a:ext>
                </a:extLst>
              </a:tr>
              <a:tr h="491280">
                <a:tc>
                  <a:txBody>
                    <a:bodyPr/>
                    <a:lstStyle/>
                    <a:p>
                      <a:pPr>
                        <a:buNone/>
                      </a:pPr>
                      <a:r>
                        <a:rPr lang="en-US" sz="1800">
                          <a:latin typeface="Arial" panose="020B0604020202020204" pitchFamily="34" charset="0"/>
                          <a:cs typeface="Arial" panose="020B0604020202020204" pitchFamily="34" charset="0"/>
                        </a:rPr>
                        <a:t>Spec OpenAPI sai lệch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err="1">
                          <a:latin typeface="Arial" panose="020B0604020202020204" pitchFamily="34" charset="0"/>
                          <a:cs typeface="Arial" panose="020B0604020202020204" pitchFamily="34" charset="0"/>
                        </a:rPr>
                        <a:t>Kỹ</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thuật</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Trung bình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3773729"/>
                  </a:ext>
                </a:extLst>
              </a:tr>
              <a:tr h="491280">
                <a:tc>
                  <a:txBody>
                    <a:bodyPr/>
                    <a:lstStyle/>
                    <a:p>
                      <a:pPr>
                        <a:buNone/>
                      </a:pPr>
                      <a:r>
                        <a:rPr lang="en-US" sz="1800">
                          <a:latin typeface="Arial" panose="020B0604020202020204" pitchFamily="34" charset="0"/>
                          <a:cs typeface="Arial" panose="020B0604020202020204" pitchFamily="34" charset="0"/>
                        </a:rPr>
                        <a:t>Deployment tự động lỗi</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err="1">
                          <a:latin typeface="Arial" panose="020B0604020202020204" pitchFamily="34" charset="0"/>
                          <a:cs typeface="Arial" panose="020B0604020202020204" pitchFamily="34" charset="0"/>
                        </a:rPr>
                        <a:t>Kỹ</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thuật</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Trung </a:t>
                      </a:r>
                      <a:r>
                        <a:rPr lang="en-US" sz="1800" dirty="0" err="1">
                          <a:latin typeface="Arial" panose="020B0604020202020204" pitchFamily="34" charset="0"/>
                          <a:cs typeface="Arial" panose="020B0604020202020204" pitchFamily="34" charset="0"/>
                        </a:rPr>
                        <a:t>bình</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Trung bình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Trung bình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8538020"/>
                  </a:ext>
                </a:extLst>
              </a:tr>
              <a:tr h="491280">
                <a:tc>
                  <a:txBody>
                    <a:bodyPr/>
                    <a:lstStyle/>
                    <a:p>
                      <a:pPr>
                        <a:buNone/>
                      </a:pPr>
                      <a:r>
                        <a:rPr lang="en-US" sz="1800">
                          <a:latin typeface="Arial" panose="020B0604020202020204" pitchFamily="34" charset="0"/>
                          <a:cs typeface="Arial" panose="020B0604020202020204" pitchFamily="34" charset="0"/>
                        </a:rPr>
                        <a:t>CodeBuild test không ổn định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err="1">
                          <a:latin typeface="Arial" panose="020B0604020202020204" pitchFamily="34" charset="0"/>
                          <a:cs typeface="Arial" panose="020B0604020202020204" pitchFamily="34" charset="0"/>
                        </a:rPr>
                        <a:t>Kỹ</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thuật</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Trung </a:t>
                      </a:r>
                      <a:r>
                        <a:rPr lang="en-US" sz="1800" dirty="0" err="1">
                          <a:latin typeface="Arial" panose="020B0604020202020204" pitchFamily="34" charset="0"/>
                          <a:cs typeface="Arial" panose="020B0604020202020204" pitchFamily="34" charset="0"/>
                        </a:rPr>
                        <a:t>bình</a:t>
                      </a:r>
                      <a:endParaRPr lang="en-US" sz="1800" dirty="0">
                        <a:latin typeface="Arial" panose="020B0604020202020204" pitchFamily="34" charset="0"/>
                        <a:cs typeface="Arial" panose="020B0604020202020204" pitchFamily="34" charset="0"/>
                      </a:endParaRP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Thấp</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Thấp</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150615"/>
                  </a:ext>
                </a:extLst>
              </a:tr>
              <a:tr h="491280">
                <a:tc>
                  <a:txBody>
                    <a:bodyPr/>
                    <a:lstStyle/>
                    <a:p>
                      <a:pPr>
                        <a:buNone/>
                      </a:pPr>
                      <a:r>
                        <a:rPr lang="en-US" sz="1800">
                          <a:latin typeface="Arial" panose="020B0604020202020204" pitchFamily="34" charset="0"/>
                          <a:cs typeface="Arial" panose="020B0604020202020204" pitchFamily="34" charset="0"/>
                        </a:rPr>
                        <a:t>Lambda timeout hoặc lỗi runtime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Vận hành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Thấp</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Trung bình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1819935"/>
                  </a:ext>
                </a:extLst>
              </a:tr>
              <a:tr h="701829">
                <a:tc>
                  <a:txBody>
                    <a:bodyPr/>
                    <a:lstStyle/>
                    <a:p>
                      <a:pPr>
                        <a:buNone/>
                      </a:pPr>
                      <a:r>
                        <a:rPr lang="en-US" sz="1800">
                          <a:latin typeface="Arial" panose="020B0604020202020204" pitchFamily="34" charset="0"/>
                          <a:cs typeface="Arial" panose="020B0604020202020204" pitchFamily="34" charset="0"/>
                        </a:rPr>
                        <a:t>Thiếu log/monitoring trong sự cố</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Vận hành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Thấp</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Trung bình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0959242"/>
                  </a:ext>
                </a:extLst>
              </a:tr>
              <a:tr h="912377">
                <a:tc>
                  <a:txBody>
                    <a:bodyPr/>
                    <a:lstStyle/>
                    <a:p>
                      <a:pPr>
                        <a:buNone/>
                      </a:pPr>
                      <a:r>
                        <a:rPr lang="en-US" sz="1800">
                          <a:latin typeface="Arial" panose="020B0604020202020204" pitchFamily="34" charset="0"/>
                          <a:cs typeface="Arial" panose="020B0604020202020204" pitchFamily="34" charset="0"/>
                        </a:rPr>
                        <a:t>Security misconfiguration (IAM Role, API Public)</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Bảo mật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latin typeface="Arial" panose="020B0604020202020204" pitchFamily="34" charset="0"/>
                          <a:cs typeface="Arial" panose="020B0604020202020204" pitchFamily="34" charset="0"/>
                        </a:rPr>
                        <a:t>Thấp</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latin typeface="Arial" panose="020B0604020202020204" pitchFamily="34" charset="0"/>
                          <a:cs typeface="Arial" panose="020B0604020202020204" pitchFamily="34" charset="0"/>
                        </a:rPr>
                        <a:t>Cao</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765618"/>
                  </a:ext>
                </a:extLst>
              </a:tr>
            </a:tbl>
          </a:graphicData>
        </a:graphic>
      </p:graphicFrame>
    </p:spTree>
    <p:extLst>
      <p:ext uri="{BB962C8B-B14F-4D97-AF65-F5344CB8AC3E}">
        <p14:creationId xmlns:p14="http://schemas.microsoft.com/office/powerpoint/2010/main" val="500278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F5008-51C4-F015-95AD-2F6AA54AB63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1A5C546-4C20-7096-3296-0C75CDD5F7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B5EDE99-F9D7-3DCE-617B-6C10A0942A14}"/>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400CDC8-FF58-AD03-31D9-D248290EF53E}"/>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Risk Assessment</a:t>
            </a:r>
          </a:p>
        </p:txBody>
      </p:sp>
      <p:sp>
        <p:nvSpPr>
          <p:cNvPr id="5" name="TextBox 4">
            <a:extLst>
              <a:ext uri="{FF2B5EF4-FFF2-40B4-BE49-F238E27FC236}">
                <a16:creationId xmlns:a16="http://schemas.microsoft.com/office/drawing/2014/main" id="{51711F7F-D1F4-728D-C886-9DC578A4F9A1}"/>
              </a:ext>
            </a:extLst>
          </p:cNvPr>
          <p:cNvSpPr txBox="1"/>
          <p:nvPr/>
        </p:nvSpPr>
        <p:spPr>
          <a:xfrm>
            <a:off x="207817" y="1248498"/>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Impact Assessment &amp; Mitigation</a:t>
            </a:r>
          </a:p>
        </p:txBody>
      </p:sp>
      <p:graphicFrame>
        <p:nvGraphicFramePr>
          <p:cNvPr id="4" name="Table 3">
            <a:extLst>
              <a:ext uri="{FF2B5EF4-FFF2-40B4-BE49-F238E27FC236}">
                <a16:creationId xmlns:a16="http://schemas.microsoft.com/office/drawing/2014/main" id="{1CBF8C2B-2A78-8BA1-C057-FAC735E46187}"/>
              </a:ext>
            </a:extLst>
          </p:cNvPr>
          <p:cNvGraphicFramePr>
            <a:graphicFrameLocks noGrp="1"/>
          </p:cNvGraphicFramePr>
          <p:nvPr>
            <p:extLst>
              <p:ext uri="{D42A27DB-BD31-4B8C-83A1-F6EECF244321}">
                <p14:modId xmlns:p14="http://schemas.microsoft.com/office/powerpoint/2010/main" val="1516117653"/>
              </p:ext>
            </p:extLst>
          </p:nvPr>
        </p:nvGraphicFramePr>
        <p:xfrm>
          <a:off x="207817" y="1825625"/>
          <a:ext cx="11710557" cy="4887099"/>
        </p:xfrm>
        <a:graphic>
          <a:graphicData uri="http://schemas.openxmlformats.org/drawingml/2006/table">
            <a:tbl>
              <a:tblPr/>
              <a:tblGrid>
                <a:gridCol w="2836719">
                  <a:extLst>
                    <a:ext uri="{9D8B030D-6E8A-4147-A177-3AD203B41FA5}">
                      <a16:colId xmlns:a16="http://schemas.microsoft.com/office/drawing/2014/main" val="2727518754"/>
                    </a:ext>
                  </a:extLst>
                </a:gridCol>
                <a:gridCol w="4970319">
                  <a:extLst>
                    <a:ext uri="{9D8B030D-6E8A-4147-A177-3AD203B41FA5}">
                      <a16:colId xmlns:a16="http://schemas.microsoft.com/office/drawing/2014/main" val="239474470"/>
                    </a:ext>
                  </a:extLst>
                </a:gridCol>
                <a:gridCol w="3903519">
                  <a:extLst>
                    <a:ext uri="{9D8B030D-6E8A-4147-A177-3AD203B41FA5}">
                      <a16:colId xmlns:a16="http://schemas.microsoft.com/office/drawing/2014/main" val="715047937"/>
                    </a:ext>
                  </a:extLst>
                </a:gridCol>
              </a:tblGrid>
              <a:tr h="310810">
                <a:tc>
                  <a:txBody>
                    <a:bodyPr/>
                    <a:lstStyle/>
                    <a:p>
                      <a:pPr algn="ctr">
                        <a:buNone/>
                      </a:pPr>
                      <a:r>
                        <a:rPr lang="en-US" sz="1800" b="0">
                          <a:latin typeface="Arial" panose="020B0604020202020204" pitchFamily="34" charset="0"/>
                          <a:cs typeface="Arial" panose="020B0604020202020204" pitchFamily="34" charset="0"/>
                        </a:rPr>
                        <a:t>Rủi ro</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vi-VN" sz="1800" b="0">
                          <a:latin typeface="Arial" panose="020B0604020202020204" pitchFamily="34" charset="0"/>
                          <a:cs typeface="Arial" panose="020B0604020202020204" pitchFamily="34" charset="0"/>
                        </a:rPr>
                        <a:t>Phân tích ảnh hưởng</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buNone/>
                      </a:pPr>
                      <a:r>
                        <a:rPr lang="en-US" sz="1800" b="0" dirty="0" err="1">
                          <a:latin typeface="Arial" panose="020B0604020202020204" pitchFamily="34" charset="0"/>
                          <a:cs typeface="Arial" panose="020B0604020202020204" pitchFamily="34" charset="0"/>
                        </a:rPr>
                        <a:t>Biện</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pháp</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giảm</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thiểu</a:t>
                      </a:r>
                      <a:endParaRPr lang="en-US" sz="1800" b="0" dirty="0">
                        <a:latin typeface="Arial" panose="020B0604020202020204" pitchFamily="34" charset="0"/>
                        <a:cs typeface="Arial" panose="020B0604020202020204" pitchFamily="34" charset="0"/>
                      </a:endParaRP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394622165"/>
                  </a:ext>
                </a:extLst>
              </a:tr>
              <a:tr h="543917">
                <a:tc>
                  <a:txBody>
                    <a:bodyPr/>
                    <a:lstStyle/>
                    <a:p>
                      <a:pPr>
                        <a:buNone/>
                      </a:pPr>
                      <a:r>
                        <a:rPr lang="vi-VN" sz="1800" b="0">
                          <a:latin typeface="Arial" panose="020B0604020202020204" pitchFamily="34" charset="0"/>
                          <a:cs typeface="Arial" panose="020B0604020202020204" pitchFamily="34" charset="0"/>
                        </a:rPr>
                        <a:t>Free Tier vượt ngưỡng</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Có thể phát sinh chi phí không mong muốn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Thiết lập Billing Alarm qua CloudWatch</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8342229"/>
                  </a:ext>
                </a:extLst>
              </a:tr>
              <a:tr h="543917">
                <a:tc>
                  <a:txBody>
                    <a:bodyPr/>
                    <a:lstStyle/>
                    <a:p>
                      <a:pPr>
                        <a:buNone/>
                      </a:pPr>
                      <a:r>
                        <a:rPr lang="en-US" sz="1800" b="0" dirty="0">
                          <a:latin typeface="Arial" panose="020B0604020202020204" pitchFamily="34" charset="0"/>
                          <a:cs typeface="Arial" panose="020B0604020202020204" pitchFamily="34" charset="0"/>
                        </a:rPr>
                        <a:t>OpenAPI Spec </a:t>
                      </a:r>
                      <a:r>
                        <a:rPr lang="en-US" sz="1800" b="0" dirty="0" err="1">
                          <a:latin typeface="Arial" panose="020B0604020202020204" pitchFamily="34" charset="0"/>
                          <a:cs typeface="Arial" panose="020B0604020202020204" pitchFamily="34" charset="0"/>
                        </a:rPr>
                        <a:t>lỗi</a:t>
                      </a:r>
                      <a:endParaRPr lang="en-US" sz="1800" b="0" dirty="0">
                        <a:latin typeface="Arial" panose="020B0604020202020204" pitchFamily="34" charset="0"/>
                        <a:cs typeface="Arial" panose="020B0604020202020204" pitchFamily="34" charset="0"/>
                      </a:endParaRP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800" b="0">
                          <a:latin typeface="Arial" panose="020B0604020202020204" pitchFamily="34" charset="0"/>
                          <a:cs typeface="Arial" panose="020B0604020202020204" pitchFamily="34" charset="0"/>
                        </a:rPr>
                        <a:t>Gây lỗi toàn bộ codegen, ảnh hưởng toàn server/client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800" b="0">
                          <a:latin typeface="Arial" panose="020B0604020202020204" pitchFamily="34" charset="0"/>
                          <a:cs typeface="Arial" panose="020B0604020202020204" pitchFamily="34" charset="0"/>
                        </a:rPr>
                        <a:t>Dùng Swagger Editor để validate trước khi codegen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902169"/>
                  </a:ext>
                </a:extLst>
              </a:tr>
              <a:tr h="543917">
                <a:tc>
                  <a:txBody>
                    <a:bodyPr/>
                    <a:lstStyle/>
                    <a:p>
                      <a:pPr>
                        <a:buNone/>
                      </a:pPr>
                      <a:r>
                        <a:rPr lang="en-US" sz="1800" b="0">
                          <a:latin typeface="Arial" panose="020B0604020202020204" pitchFamily="34" charset="0"/>
                          <a:cs typeface="Arial" panose="020B0604020202020204" pitchFamily="34" charset="0"/>
                        </a:rPr>
                        <a:t>Deployment lỗi</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800" b="0">
                          <a:latin typeface="Arial" panose="020B0604020202020204" pitchFamily="34" charset="0"/>
                          <a:cs typeface="Arial" panose="020B0604020202020204" pitchFamily="34" charset="0"/>
                        </a:rPr>
                        <a:t>Không thể update API, ảnh hưởng dev/test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Thiết lập phân tách stage (dev/prod), rollback manual</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1529878"/>
                  </a:ext>
                </a:extLst>
              </a:tr>
              <a:tr h="543917">
                <a:tc>
                  <a:txBody>
                    <a:bodyPr/>
                    <a:lstStyle/>
                    <a:p>
                      <a:pPr>
                        <a:buNone/>
                      </a:pPr>
                      <a:r>
                        <a:rPr lang="en-US" sz="1800" b="0">
                          <a:latin typeface="Arial" panose="020B0604020202020204" pitchFamily="34" charset="0"/>
                          <a:cs typeface="Arial" panose="020B0604020202020204" pitchFamily="34" charset="0"/>
                        </a:rPr>
                        <a:t>CodeBuild test fail</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800" b="0">
                          <a:latin typeface="Arial" panose="020B0604020202020204" pitchFamily="34" charset="0"/>
                          <a:cs typeface="Arial" panose="020B0604020202020204" pitchFamily="34" charset="0"/>
                        </a:rPr>
                        <a:t>Làm gián đoạn CI/CD</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800" b="0">
                          <a:latin typeface="Arial" panose="020B0604020202020204" pitchFamily="34" charset="0"/>
                          <a:cs typeface="Arial" panose="020B0604020202020204" pitchFamily="34" charset="0"/>
                        </a:rPr>
                        <a:t>Kiểm thử kỹ local trước khi push lên Git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7206950"/>
                  </a:ext>
                </a:extLst>
              </a:tr>
              <a:tr h="543917">
                <a:tc>
                  <a:txBody>
                    <a:bodyPr/>
                    <a:lstStyle/>
                    <a:p>
                      <a:pPr>
                        <a:buNone/>
                      </a:pPr>
                      <a:r>
                        <a:rPr lang="en-US" sz="1800" b="0">
                          <a:latin typeface="Arial" panose="020B0604020202020204" pitchFamily="34" charset="0"/>
                          <a:cs typeface="Arial" panose="020B0604020202020204" pitchFamily="34" charset="0"/>
                        </a:rPr>
                        <a:t>Lambda timeout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800" b="0">
                          <a:latin typeface="Arial" panose="020B0604020202020204" pitchFamily="34" charset="0"/>
                          <a:cs typeface="Arial" panose="020B0604020202020204" pitchFamily="34" charset="0"/>
                        </a:rPr>
                        <a:t>Lỗi không xử lý được API call</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Kiểm soát timeout + log kỹ lỗi để debug</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6759636"/>
                  </a:ext>
                </a:extLst>
              </a:tr>
              <a:tr h="543917">
                <a:tc>
                  <a:txBody>
                    <a:bodyPr/>
                    <a:lstStyle/>
                    <a:p>
                      <a:pPr>
                        <a:buNone/>
                      </a:pPr>
                      <a:r>
                        <a:rPr lang="en-US" sz="1800" b="0">
                          <a:latin typeface="Arial" panose="020B0604020202020204" pitchFamily="34" charset="0"/>
                          <a:cs typeface="Arial" panose="020B0604020202020204" pitchFamily="34" charset="0"/>
                        </a:rPr>
                        <a:t>Thiếu log</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Khó xác định lỗi khi API hỏng</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Bật CloudWatch Logs + X-Ray, alarm theo error count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14401"/>
                  </a:ext>
                </a:extLst>
              </a:tr>
              <a:tr h="777025">
                <a:tc>
                  <a:txBody>
                    <a:bodyPr/>
                    <a:lstStyle/>
                    <a:p>
                      <a:pPr>
                        <a:buNone/>
                      </a:pPr>
                      <a:r>
                        <a:rPr lang="en-US" sz="1800" b="0">
                          <a:latin typeface="Arial" panose="020B0604020202020204" pitchFamily="34" charset="0"/>
                          <a:cs typeface="Arial" panose="020B0604020202020204" pitchFamily="34" charset="0"/>
                        </a:rPr>
                        <a:t>Security sai cấu hình</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a:latin typeface="Arial" panose="020B0604020202020204" pitchFamily="34" charset="0"/>
                          <a:cs typeface="Arial" panose="020B0604020202020204" pitchFamily="34" charset="0"/>
                        </a:rPr>
                        <a:t>Dữ liệu lộ ra ngoài hoặc bị exploit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0" dirty="0" err="1">
                          <a:latin typeface="Arial" panose="020B0604020202020204" pitchFamily="34" charset="0"/>
                          <a:cs typeface="Arial" panose="020B0604020202020204" pitchFamily="34" charset="0"/>
                        </a:rPr>
                        <a:t>Rà</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soát</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kỹ</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quyền</a:t>
                      </a:r>
                      <a:r>
                        <a:rPr lang="en-US" sz="1800" b="0" dirty="0">
                          <a:latin typeface="Arial" panose="020B0604020202020204" pitchFamily="34" charset="0"/>
                          <a:cs typeface="Arial" panose="020B0604020202020204" pitchFamily="34" charset="0"/>
                        </a:rPr>
                        <a:t> IAM, </a:t>
                      </a:r>
                      <a:r>
                        <a:rPr lang="en-US" sz="1800" b="0" dirty="0" err="1">
                          <a:latin typeface="Arial" panose="020B0604020202020204" pitchFamily="34" charset="0"/>
                          <a:cs typeface="Arial" panose="020B0604020202020204" pitchFamily="34" charset="0"/>
                        </a:rPr>
                        <a:t>chỉ</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mở</a:t>
                      </a:r>
                      <a:r>
                        <a:rPr lang="en-US" sz="1800" b="0" dirty="0">
                          <a:latin typeface="Arial" panose="020B0604020202020204" pitchFamily="34" charset="0"/>
                          <a:cs typeface="Arial" panose="020B0604020202020204" pitchFamily="34" charset="0"/>
                        </a:rPr>
                        <a:t> public </a:t>
                      </a:r>
                      <a:r>
                        <a:rPr lang="en-US" sz="1800" b="0" dirty="0" err="1">
                          <a:latin typeface="Arial" panose="020B0604020202020204" pitchFamily="34" charset="0"/>
                          <a:cs typeface="Arial" panose="020B0604020202020204" pitchFamily="34" charset="0"/>
                        </a:rPr>
                        <a:t>khi</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cần</a:t>
                      </a:r>
                      <a:r>
                        <a:rPr lang="en-US" sz="1800" b="0" dirty="0">
                          <a:latin typeface="Arial" panose="020B0604020202020204" pitchFamily="34" charset="0"/>
                          <a:cs typeface="Arial" panose="020B0604020202020204" pitchFamily="34" charset="0"/>
                        </a:rPr>
                        <a:t>, </a:t>
                      </a:r>
                      <a:r>
                        <a:rPr lang="en-US" sz="1800" b="0" dirty="0" err="1">
                          <a:latin typeface="Arial" panose="020B0604020202020204" pitchFamily="34" charset="0"/>
                          <a:cs typeface="Arial" panose="020B0604020202020204" pitchFamily="34" charset="0"/>
                        </a:rPr>
                        <a:t>dùng</a:t>
                      </a:r>
                      <a:r>
                        <a:rPr lang="en-US" sz="1800" b="0" dirty="0">
                          <a:latin typeface="Arial" panose="020B0604020202020204" pitchFamily="34" charset="0"/>
                          <a:cs typeface="Arial" panose="020B0604020202020204" pitchFamily="34" charset="0"/>
                        </a:rPr>
                        <a:t> API Key/Authorizer</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2067693"/>
                  </a:ext>
                </a:extLst>
              </a:tr>
            </a:tbl>
          </a:graphicData>
        </a:graphic>
      </p:graphicFrame>
    </p:spTree>
    <p:extLst>
      <p:ext uri="{BB962C8B-B14F-4D97-AF65-F5344CB8AC3E}">
        <p14:creationId xmlns:p14="http://schemas.microsoft.com/office/powerpoint/2010/main" val="2621884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12EF-EA67-C96F-0F41-B8210952281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4E1203E-5C01-DF73-1688-400AADEDD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BD69047-1F0F-5351-C67F-47E21047E2C9}"/>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F6F7BF7-49DA-C5AC-4269-E230B06D25BE}"/>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Risk Assessment</a:t>
            </a:r>
          </a:p>
        </p:txBody>
      </p:sp>
      <p:sp>
        <p:nvSpPr>
          <p:cNvPr id="5" name="TextBox 4">
            <a:extLst>
              <a:ext uri="{FF2B5EF4-FFF2-40B4-BE49-F238E27FC236}">
                <a16:creationId xmlns:a16="http://schemas.microsoft.com/office/drawing/2014/main" id="{1D25F337-2943-2447-EFA8-39A7DAFB7E4C}"/>
              </a:ext>
            </a:extLst>
          </p:cNvPr>
          <p:cNvSpPr txBox="1"/>
          <p:nvPr/>
        </p:nvSpPr>
        <p:spPr>
          <a:xfrm>
            <a:off x="353290" y="1384638"/>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Contingency Plan</a:t>
            </a:r>
          </a:p>
        </p:txBody>
      </p:sp>
      <p:sp>
        <p:nvSpPr>
          <p:cNvPr id="6" name="TextBox 5">
            <a:extLst>
              <a:ext uri="{FF2B5EF4-FFF2-40B4-BE49-F238E27FC236}">
                <a16:creationId xmlns:a16="http://schemas.microsoft.com/office/drawing/2014/main" id="{F3A86A24-0003-A6A1-DE99-86A6CFBDC639}"/>
              </a:ext>
            </a:extLst>
          </p:cNvPr>
          <p:cNvSpPr txBox="1"/>
          <p:nvPr/>
        </p:nvSpPr>
        <p:spPr>
          <a:xfrm>
            <a:off x="737755" y="2043998"/>
            <a:ext cx="10245436" cy="3901837"/>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Có thể rollback code thủ công bằng cách deploy lại Lambda version cũ (CodePipeline giữ artifact build)</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CodeBuild fail sẽ dừng pipeline – không ảnh hưởng production</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Sử dụng feature branch để test trước khi merge vào main</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CloudWatch Alarm gửi thông báo về email nếu có lỗi xảy ra</a:t>
            </a:r>
            <a:endParaRPr lang="en-US" sz="2400" dirty="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dùng</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manual deploy fallback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bằng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dùng</a:t>
            </a:r>
            <a:r>
              <a:rPr lang="en-US" sz="2400" dirty="0">
                <a:latin typeface="Arial" panose="020B0604020202020204" pitchFamily="34" charset="0"/>
                <a:cs typeface="Arial" panose="020B0604020202020204" pitchFamily="34" charset="0"/>
              </a:rPr>
              <a:t> AWS CLI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pipeline </a:t>
            </a:r>
            <a:r>
              <a:rPr lang="en-US" sz="2400" dirty="0" err="1">
                <a:latin typeface="Arial" panose="020B0604020202020204" pitchFamily="34" charset="0"/>
                <a:cs typeface="Arial" panose="020B0604020202020204" pitchFamily="34" charset="0"/>
              </a:rPr>
              <a:t>gặp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lỗi</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9976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DD518-268F-337F-767F-A1105A24F7F2}"/>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7EED011-6F57-7AD5-3117-EC9CDCFB1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9445CFF-44CD-0192-77BA-D804A726EE51}"/>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3A58CAC-9AC2-FFFF-E885-6DEDA6E1FE6B}"/>
              </a:ext>
            </a:extLst>
          </p:cNvPr>
          <p:cNvSpPr txBox="1"/>
          <p:nvPr/>
        </p:nvSpPr>
        <p:spPr>
          <a:xfrm>
            <a:off x="7616535" y="410188"/>
            <a:ext cx="5053447"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Risk Assessment</a:t>
            </a:r>
          </a:p>
        </p:txBody>
      </p:sp>
      <p:sp>
        <p:nvSpPr>
          <p:cNvPr id="5" name="TextBox 4">
            <a:extLst>
              <a:ext uri="{FF2B5EF4-FFF2-40B4-BE49-F238E27FC236}">
                <a16:creationId xmlns:a16="http://schemas.microsoft.com/office/drawing/2014/main" id="{5103C5A8-D819-DF79-30F9-EFF5ADD79F81}"/>
              </a:ext>
            </a:extLst>
          </p:cNvPr>
          <p:cNvSpPr txBox="1"/>
          <p:nvPr/>
        </p:nvSpPr>
        <p:spPr>
          <a:xfrm>
            <a:off x="800100" y="1571674"/>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Risk Monitoring &amp; Escalation</a:t>
            </a:r>
          </a:p>
        </p:txBody>
      </p:sp>
      <p:graphicFrame>
        <p:nvGraphicFramePr>
          <p:cNvPr id="4" name="Table 3">
            <a:extLst>
              <a:ext uri="{FF2B5EF4-FFF2-40B4-BE49-F238E27FC236}">
                <a16:creationId xmlns:a16="http://schemas.microsoft.com/office/drawing/2014/main" id="{66574A10-A8F7-00F1-BF50-AC8FB0B90475}"/>
              </a:ext>
            </a:extLst>
          </p:cNvPr>
          <p:cNvGraphicFramePr>
            <a:graphicFrameLocks noGrp="1"/>
          </p:cNvGraphicFramePr>
          <p:nvPr>
            <p:extLst>
              <p:ext uri="{D42A27DB-BD31-4B8C-83A1-F6EECF244321}">
                <p14:modId xmlns:p14="http://schemas.microsoft.com/office/powerpoint/2010/main" val="3293019934"/>
              </p:ext>
            </p:extLst>
          </p:nvPr>
        </p:nvGraphicFramePr>
        <p:xfrm>
          <a:off x="599209" y="2543565"/>
          <a:ext cx="10515600" cy="3485388"/>
        </p:xfrm>
        <a:graphic>
          <a:graphicData uri="http://schemas.openxmlformats.org/drawingml/2006/table">
            <a:tbl>
              <a:tblPr/>
              <a:tblGrid>
                <a:gridCol w="3879273">
                  <a:extLst>
                    <a:ext uri="{9D8B030D-6E8A-4147-A177-3AD203B41FA5}">
                      <a16:colId xmlns:a16="http://schemas.microsoft.com/office/drawing/2014/main" val="4033564391"/>
                    </a:ext>
                  </a:extLst>
                </a:gridCol>
                <a:gridCol w="6636327">
                  <a:extLst>
                    <a:ext uri="{9D8B030D-6E8A-4147-A177-3AD203B41FA5}">
                      <a16:colId xmlns:a16="http://schemas.microsoft.com/office/drawing/2014/main" val="1884416168"/>
                    </a:ext>
                  </a:extLst>
                </a:gridCol>
              </a:tblGrid>
              <a:tr h="0">
                <a:tc>
                  <a:txBody>
                    <a:bodyPr/>
                    <a:lstStyle/>
                    <a:p>
                      <a:pPr algn="ctr">
                        <a:lnSpc>
                          <a:spcPct val="150000"/>
                        </a:lnSpc>
                        <a:buNone/>
                      </a:pPr>
                      <a:r>
                        <a:rPr lang="en-US" sz="2000"/>
                        <a:t>Mục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t>Hành</a:t>
                      </a:r>
                      <a:r>
                        <a:rPr lang="en-US" sz="2000" dirty="0"/>
                        <a:t> </a:t>
                      </a:r>
                      <a:r>
                        <a:rPr lang="en-US" sz="2000" dirty="0" err="1"/>
                        <a:t>động</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69305704"/>
                  </a:ext>
                </a:extLst>
              </a:tr>
              <a:tr h="0">
                <a:tc>
                  <a:txBody>
                    <a:bodyPr/>
                    <a:lstStyle/>
                    <a:p>
                      <a:pPr algn="ctr">
                        <a:lnSpc>
                          <a:spcPct val="150000"/>
                        </a:lnSpc>
                        <a:buNone/>
                      </a:pPr>
                      <a:r>
                        <a:rPr lang="en-US" sz="2000" b="1" dirty="0"/>
                        <a:t>Logs</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t>Theo dõi qua CloudWatch Logs, phân loại log rõ ràng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571254"/>
                  </a:ext>
                </a:extLst>
              </a:tr>
              <a:tr h="0">
                <a:tc>
                  <a:txBody>
                    <a:bodyPr/>
                    <a:lstStyle/>
                    <a:p>
                      <a:pPr algn="ctr">
                        <a:lnSpc>
                          <a:spcPct val="150000"/>
                        </a:lnSpc>
                        <a:buNone/>
                      </a:pPr>
                      <a:r>
                        <a:rPr lang="en-US" sz="2000" b="1"/>
                        <a:t>Alarm</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t>Sử dụng CloudWatch Alarm cho 500 Error, Timeout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617365"/>
                  </a:ext>
                </a:extLst>
              </a:tr>
              <a:tr h="0">
                <a:tc>
                  <a:txBody>
                    <a:bodyPr/>
                    <a:lstStyle/>
                    <a:p>
                      <a:pPr algn="ctr">
                        <a:lnSpc>
                          <a:spcPct val="150000"/>
                        </a:lnSpc>
                        <a:buNone/>
                      </a:pPr>
                      <a:r>
                        <a:rPr lang="en-US" sz="2000" b="1" dirty="0"/>
                        <a:t>X-Ray</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t>Phân tích nguyên nhân lỗi trong Lambda/API 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010249"/>
                  </a:ext>
                </a:extLst>
              </a:tr>
              <a:tr h="0">
                <a:tc>
                  <a:txBody>
                    <a:bodyPr/>
                    <a:lstStyle/>
                    <a:p>
                      <a:pPr algn="ctr">
                        <a:lnSpc>
                          <a:spcPct val="150000"/>
                        </a:lnSpc>
                        <a:buNone/>
                      </a:pPr>
                      <a:r>
                        <a:rPr lang="en-US" sz="2000" b="1"/>
                        <a:t>Security Audit</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t>Dùng IAM Access Analyzer kiểm tra quyền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8947703"/>
                  </a:ext>
                </a:extLst>
              </a:tr>
              <a:tr h="0">
                <a:tc>
                  <a:txBody>
                    <a:bodyPr/>
                    <a:lstStyle/>
                    <a:p>
                      <a:pPr algn="ctr">
                        <a:lnSpc>
                          <a:spcPct val="150000"/>
                        </a:lnSpc>
                        <a:buNone/>
                      </a:pPr>
                      <a:r>
                        <a:rPr lang="en-US" sz="2000" b="1" dirty="0"/>
                        <a:t>Escalation</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err="1"/>
                        <a:t>Nếu</a:t>
                      </a:r>
                      <a:r>
                        <a:rPr lang="en-US" sz="2000" dirty="0"/>
                        <a:t> </a:t>
                      </a:r>
                      <a:r>
                        <a:rPr lang="en-US" sz="2000" dirty="0" err="1"/>
                        <a:t>lỗi</a:t>
                      </a:r>
                      <a:r>
                        <a:rPr lang="en-US" sz="2000" dirty="0"/>
                        <a:t> </a:t>
                      </a:r>
                      <a:r>
                        <a:rPr lang="en-US" sz="2000" dirty="0" err="1"/>
                        <a:t>hệ</a:t>
                      </a:r>
                      <a:r>
                        <a:rPr lang="en-US" sz="2000" dirty="0"/>
                        <a:t> </a:t>
                      </a:r>
                      <a:r>
                        <a:rPr lang="en-US" sz="2000" dirty="0" err="1"/>
                        <a:t>thống</a:t>
                      </a:r>
                      <a:r>
                        <a:rPr lang="en-US" sz="2000" dirty="0"/>
                        <a:t> </a:t>
                      </a:r>
                      <a:r>
                        <a:rPr lang="en-US" sz="2000" dirty="0" err="1"/>
                        <a:t>nghiêm</a:t>
                      </a:r>
                      <a:r>
                        <a:rPr lang="en-US" sz="2000" dirty="0"/>
                        <a:t> </a:t>
                      </a:r>
                      <a:r>
                        <a:rPr lang="en-US" sz="2000" dirty="0" err="1"/>
                        <a:t>trọng</a:t>
                      </a:r>
                      <a:r>
                        <a:rPr lang="en-US" sz="2000" dirty="0"/>
                        <a:t>, </a:t>
                      </a:r>
                      <a:r>
                        <a:rPr lang="en-US" sz="2000" dirty="0" err="1"/>
                        <a:t>có</a:t>
                      </a:r>
                      <a:r>
                        <a:rPr lang="en-US" sz="2000" dirty="0"/>
                        <a:t> </a:t>
                      </a:r>
                      <a:r>
                        <a:rPr lang="en-US" sz="2000" dirty="0" err="1"/>
                        <a:t>thể</a:t>
                      </a:r>
                      <a:r>
                        <a:rPr lang="en-US" sz="2000" dirty="0"/>
                        <a:t> </a:t>
                      </a:r>
                      <a:r>
                        <a:rPr lang="en-US" sz="2000" dirty="0" err="1"/>
                        <a:t>tạm</a:t>
                      </a:r>
                      <a:r>
                        <a:rPr lang="en-US" sz="2000" dirty="0"/>
                        <a:t> </a:t>
                      </a:r>
                      <a:r>
                        <a:rPr lang="en-US" sz="2000" dirty="0" err="1"/>
                        <a:t>tắt</a:t>
                      </a:r>
                      <a:r>
                        <a:rPr lang="en-US" sz="2000" dirty="0"/>
                        <a:t> API Gateway </a:t>
                      </a:r>
                      <a:r>
                        <a:rPr lang="en-US" sz="2000" dirty="0" err="1"/>
                        <a:t>để</a:t>
                      </a:r>
                      <a:r>
                        <a:rPr lang="en-US" sz="2000" dirty="0"/>
                        <a:t> </a:t>
                      </a:r>
                      <a:r>
                        <a:rPr lang="en-US" sz="2000" dirty="0" err="1"/>
                        <a:t>tránh</a:t>
                      </a:r>
                      <a:r>
                        <a:rPr lang="en-US" sz="2000" dirty="0"/>
                        <a:t> chi </a:t>
                      </a:r>
                      <a:r>
                        <a:rPr lang="en-US" sz="2000" dirty="0" err="1"/>
                        <a:t>phí</a:t>
                      </a:r>
                      <a:r>
                        <a:rPr lang="en-US" sz="2000" dirty="0"/>
                        <a:t>/</a:t>
                      </a:r>
                      <a:r>
                        <a:rPr lang="en-US" sz="2000" dirty="0" err="1"/>
                        <a:t>lỗi</a:t>
                      </a:r>
                      <a:r>
                        <a:rPr lang="en-US" sz="2000" dirty="0"/>
                        <a:t> </a:t>
                      </a:r>
                      <a:r>
                        <a:rPr lang="en-US" sz="2000" dirty="0" err="1"/>
                        <a:t>hàng</a:t>
                      </a:r>
                      <a:r>
                        <a:rPr lang="en-US" sz="2000" dirty="0"/>
                        <a:t> </a:t>
                      </a:r>
                      <a:r>
                        <a:rPr lang="en-US" sz="2000" dirty="0" err="1"/>
                        <a:t>loạt</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6227653"/>
                  </a:ext>
                </a:extLst>
              </a:tr>
            </a:tbl>
          </a:graphicData>
        </a:graphic>
      </p:graphicFrame>
    </p:spTree>
    <p:extLst>
      <p:ext uri="{BB962C8B-B14F-4D97-AF65-F5344CB8AC3E}">
        <p14:creationId xmlns:p14="http://schemas.microsoft.com/office/powerpoint/2010/main" val="193177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1276-2DD4-3482-E8E8-D0386FBB5A1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E2D9FD7-86FD-42D9-DCB6-35B41EFA9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5DF6026-FB93-1786-E9D0-003DC71480BD}"/>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6A81044-AB5D-ED39-9D8E-2072DAB567F9}"/>
              </a:ext>
            </a:extLst>
          </p:cNvPr>
          <p:cNvSpPr txBox="1"/>
          <p:nvPr/>
        </p:nvSpPr>
        <p:spPr>
          <a:xfrm>
            <a:off x="7356765" y="410188"/>
            <a:ext cx="5313218"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Expected Outcomes</a:t>
            </a:r>
          </a:p>
        </p:txBody>
      </p:sp>
      <p:sp>
        <p:nvSpPr>
          <p:cNvPr id="6" name="TextBox 5">
            <a:extLst>
              <a:ext uri="{FF2B5EF4-FFF2-40B4-BE49-F238E27FC236}">
                <a16:creationId xmlns:a16="http://schemas.microsoft.com/office/drawing/2014/main" id="{A7C31DA4-6EDE-66AE-EE72-CC46279DACB7}"/>
              </a:ext>
            </a:extLst>
          </p:cNvPr>
          <p:cNvSpPr txBox="1"/>
          <p:nvPr/>
        </p:nvSpPr>
        <p:spPr>
          <a:xfrm>
            <a:off x="623455" y="1481712"/>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Success Metrics</a:t>
            </a:r>
            <a:endParaRPr lang="vi-VN" sz="2800" b="1" dirty="0">
              <a:solidFill>
                <a:srgbClr val="0070C0"/>
              </a:solidFill>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6A22964C-9995-290E-ABDC-EC73FE797E4E}"/>
              </a:ext>
            </a:extLst>
          </p:cNvPr>
          <p:cNvGraphicFramePr>
            <a:graphicFrameLocks noGrp="1"/>
          </p:cNvGraphicFramePr>
          <p:nvPr>
            <p:extLst>
              <p:ext uri="{D42A27DB-BD31-4B8C-83A1-F6EECF244321}">
                <p14:modId xmlns:p14="http://schemas.microsoft.com/office/powerpoint/2010/main" val="2676297778"/>
              </p:ext>
            </p:extLst>
          </p:nvPr>
        </p:nvGraphicFramePr>
        <p:xfrm>
          <a:off x="838200" y="2904014"/>
          <a:ext cx="10515600" cy="2953134"/>
        </p:xfrm>
        <a:graphic>
          <a:graphicData uri="http://schemas.openxmlformats.org/drawingml/2006/table">
            <a:tbl>
              <a:tblPr/>
              <a:tblGrid>
                <a:gridCol w="5257800">
                  <a:extLst>
                    <a:ext uri="{9D8B030D-6E8A-4147-A177-3AD203B41FA5}">
                      <a16:colId xmlns:a16="http://schemas.microsoft.com/office/drawing/2014/main" val="3717071424"/>
                    </a:ext>
                  </a:extLst>
                </a:gridCol>
                <a:gridCol w="5257800">
                  <a:extLst>
                    <a:ext uri="{9D8B030D-6E8A-4147-A177-3AD203B41FA5}">
                      <a16:colId xmlns:a16="http://schemas.microsoft.com/office/drawing/2014/main" val="1101479827"/>
                    </a:ext>
                  </a:extLst>
                </a:gridCol>
              </a:tblGrid>
              <a:tr h="0">
                <a:tc>
                  <a:txBody>
                    <a:bodyPr/>
                    <a:lstStyle/>
                    <a:p>
                      <a:pPr algn="ctr">
                        <a:lnSpc>
                          <a:spcPct val="150000"/>
                        </a:lnSpc>
                        <a:buNone/>
                      </a:pPr>
                      <a:r>
                        <a:rPr lang="en-US" sz="2000">
                          <a:latin typeface="Arial" panose="020B0604020202020204" pitchFamily="34" charset="0"/>
                          <a:cs typeface="Arial" panose="020B0604020202020204" pitchFamily="34" charset="0"/>
                        </a:rPr>
                        <a:t>Chỉ số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buNone/>
                      </a:pP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tiêu</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588471752"/>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OpenAPI Spec </a:t>
                      </a:r>
                      <a:r>
                        <a:rPr lang="en-US" sz="2000" dirty="0" err="1">
                          <a:latin typeface="Arial" panose="020B0604020202020204" pitchFamily="34" charset="0"/>
                          <a:cs typeface="Arial" panose="020B0604020202020204" pitchFamily="34" charset="0"/>
                        </a:rPr>
                        <a:t>hoàn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chỉnh</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vi-VN" sz="2000">
                          <a:latin typeface="Arial" panose="020B0604020202020204" pitchFamily="34" charset="0"/>
                          <a:cs typeface="Arial" panose="020B0604020202020204" pitchFamily="34" charset="0"/>
                        </a:rPr>
                        <a:t>&gt;= 95% endpoint được định nghĩa rõ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0888535"/>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Code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Client &amp; Server stub hoạt động từ spec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9618602"/>
                  </a:ext>
                </a:extLst>
              </a:tr>
              <a:tr h="0">
                <a:tc>
                  <a:txBody>
                    <a:bodyPr/>
                    <a:lstStyle/>
                    <a:p>
                      <a:pPr>
                        <a:lnSpc>
                          <a:spcPct val="150000"/>
                        </a:lnSpc>
                        <a:buNone/>
                      </a:pP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&gt; 80% test coverage </a:t>
                      </a:r>
                      <a:r>
                        <a:rPr lang="en-US" sz="2000" dirty="0" err="1">
                          <a:latin typeface="Arial" panose="020B0604020202020204" pitchFamily="34" charset="0"/>
                          <a:cs typeface="Arial" panose="020B0604020202020204" pitchFamily="34" charset="0"/>
                        </a:rPr>
                        <a:t>bằng</a:t>
                      </a:r>
                      <a:r>
                        <a:rPr lang="en-US" sz="2000" dirty="0">
                          <a:latin typeface="Arial" panose="020B0604020202020204" pitchFamily="34" charset="0"/>
                          <a:cs typeface="Arial" panose="020B0604020202020204" pitchFamily="34" charset="0"/>
                        </a:rPr>
                        <a:t> Jest &amp; </a:t>
                      </a:r>
                      <a:r>
                        <a:rPr lang="en-US" sz="2000" dirty="0" err="1">
                          <a:latin typeface="Arial" panose="020B0604020202020204" pitchFamily="34" charset="0"/>
                          <a:cs typeface="Arial" panose="020B0604020202020204" pitchFamily="34" charset="0"/>
                        </a:rPr>
                        <a:t>CodeBuild</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2968874"/>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CI/CD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a:latin typeface="Arial" panose="020B0604020202020204" pitchFamily="34" charset="0"/>
                          <a:cs typeface="Arial" panose="020B0604020202020204" pitchFamily="34" charset="0"/>
                        </a:rPr>
                        <a:t>CodePipeline hoàn tất deploy không lỗi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2728854"/>
                  </a:ext>
                </a:extLst>
              </a:tr>
              <a:tr h="0">
                <a:tc>
                  <a:txBody>
                    <a:bodyPr/>
                    <a:lstStyle/>
                    <a:p>
                      <a:pPr>
                        <a:lnSpc>
                          <a:spcPct val="150000"/>
                        </a:lnSpc>
                        <a:buNone/>
                      </a:pPr>
                      <a:r>
                        <a:rPr lang="en-US" sz="2000" dirty="0">
                          <a:latin typeface="Arial" panose="020B0604020202020204" pitchFamily="34" charset="0"/>
                          <a:cs typeface="Arial" panose="020B0604020202020204" pitchFamily="34" charset="0"/>
                        </a:rPr>
                        <a:t>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2000" dirty="0">
                          <a:latin typeface="Arial" panose="020B0604020202020204" pitchFamily="34" charset="0"/>
                          <a:cs typeface="Arial" panose="020B0604020202020204" pitchFamily="34" charset="0"/>
                        </a:rPr>
                        <a:t>Logs </a:t>
                      </a:r>
                      <a:r>
                        <a:rPr lang="en-US" sz="2000" dirty="0" err="1">
                          <a:latin typeface="Arial" panose="020B0604020202020204" pitchFamily="34" charset="0"/>
                          <a:cs typeface="Arial" panose="020B0604020202020204" pitchFamily="34" charset="0"/>
                        </a:rPr>
                        <a:t>đầy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CloudWatch Alarm &amp; X-Ray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390919"/>
                  </a:ext>
                </a:extLst>
              </a:tr>
            </a:tbl>
          </a:graphicData>
        </a:graphic>
      </p:graphicFrame>
    </p:spTree>
    <p:extLst>
      <p:ext uri="{BB962C8B-B14F-4D97-AF65-F5344CB8AC3E}">
        <p14:creationId xmlns:p14="http://schemas.microsoft.com/office/powerpoint/2010/main" val="1227296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CDCD4-3302-FF64-6091-73E4039CB8B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990DCFE8-46ED-9B78-CF51-8ADA82D32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FC23BBE-A13E-D6FD-D2BF-B29D501ECB93}"/>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452176D-1ABF-697F-C8A9-B50BBBB98A7B}"/>
              </a:ext>
            </a:extLst>
          </p:cNvPr>
          <p:cNvSpPr txBox="1"/>
          <p:nvPr/>
        </p:nvSpPr>
        <p:spPr>
          <a:xfrm>
            <a:off x="7356765" y="410188"/>
            <a:ext cx="5313218"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Expected Outcomes</a:t>
            </a:r>
          </a:p>
        </p:txBody>
      </p:sp>
      <p:sp>
        <p:nvSpPr>
          <p:cNvPr id="6" name="TextBox 5">
            <a:extLst>
              <a:ext uri="{FF2B5EF4-FFF2-40B4-BE49-F238E27FC236}">
                <a16:creationId xmlns:a16="http://schemas.microsoft.com/office/drawing/2014/main" id="{D0F84360-207B-F96E-B13B-3E7FBD205EA2}"/>
              </a:ext>
            </a:extLst>
          </p:cNvPr>
          <p:cNvSpPr txBox="1"/>
          <p:nvPr/>
        </p:nvSpPr>
        <p:spPr>
          <a:xfrm>
            <a:off x="654627" y="1668748"/>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Short-term Benefits</a:t>
            </a:r>
            <a:endParaRPr lang="vi-VN" sz="2800" b="1" dirty="0">
              <a:solidFill>
                <a:srgbClr val="0070C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DA92D20-767F-E17E-AA3C-5447D6B1F4C5}"/>
              </a:ext>
            </a:extLst>
          </p:cNvPr>
          <p:cNvSpPr txBox="1"/>
          <p:nvPr/>
        </p:nvSpPr>
        <p:spPr>
          <a:xfrm>
            <a:off x="1440872" y="2399391"/>
            <a:ext cx="9310255" cy="3901837"/>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Đội dev tiết kiệm 40–60% thời gian viết boilerplate code nhờ OpenAPI Codegen</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Giảm lỗi giao tiếp giữa frontend &amp; backend vì có contract rõ ràng</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Có thể kiểm thử API sớm ngay cả khi chưa có backend nhờ mock server</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Redoc hỗ trợ tài liệu API tự động, dễ dùng cho cả dev lẫn stakeholders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5956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7CFB8-AB20-25C7-0F14-DE65628E9CDD}"/>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9E7B9BE5-F09A-6885-8250-62BA8D020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59337E5-8B3A-4B10-F648-3AC6A8259DE3}"/>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4FB7B12-7290-3A39-C521-E9DD9EF9934B}"/>
              </a:ext>
            </a:extLst>
          </p:cNvPr>
          <p:cNvSpPr txBox="1"/>
          <p:nvPr/>
        </p:nvSpPr>
        <p:spPr>
          <a:xfrm>
            <a:off x="7356765" y="410188"/>
            <a:ext cx="5313218"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Expected Outcomes</a:t>
            </a:r>
          </a:p>
        </p:txBody>
      </p:sp>
      <p:sp>
        <p:nvSpPr>
          <p:cNvPr id="6" name="TextBox 5">
            <a:extLst>
              <a:ext uri="{FF2B5EF4-FFF2-40B4-BE49-F238E27FC236}">
                <a16:creationId xmlns:a16="http://schemas.microsoft.com/office/drawing/2014/main" id="{C22F6179-6DA3-6CD8-EA4F-8DF9CA17FD2C}"/>
              </a:ext>
            </a:extLst>
          </p:cNvPr>
          <p:cNvSpPr txBox="1"/>
          <p:nvPr/>
        </p:nvSpPr>
        <p:spPr>
          <a:xfrm>
            <a:off x="322118" y="1440148"/>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Medium-term Benefits</a:t>
            </a:r>
            <a:endParaRPr lang="vi-VN" sz="2800" b="1" dirty="0">
              <a:solidFill>
                <a:srgbClr val="0070C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77487DA-B2ED-56A3-8E08-7E23B7BAF169}"/>
              </a:ext>
            </a:extLst>
          </p:cNvPr>
          <p:cNvSpPr txBox="1"/>
          <p:nvPr/>
        </p:nvSpPr>
        <p:spPr>
          <a:xfrm>
            <a:off x="1420956" y="2654789"/>
            <a:ext cx="9350087" cy="2793842"/>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mở</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rộng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microservices </a:t>
            </a:r>
            <a:r>
              <a:rPr lang="en-US" sz="2400" dirty="0" err="1">
                <a:latin typeface="Arial" panose="020B0604020202020204" pitchFamily="34" charset="0"/>
                <a:cs typeface="Arial" panose="020B0604020202020204" pitchFamily="34" charset="0"/>
              </a:rPr>
              <a:t>nhờ</a:t>
            </a:r>
            <a:r>
              <a:rPr lang="en-US" sz="2400" dirty="0">
                <a:latin typeface="Arial" panose="020B0604020202020204" pitchFamily="34" charset="0"/>
                <a:cs typeface="Arial" panose="020B0604020202020204" pitchFamily="34" charset="0"/>
              </a:rPr>
              <a:t> chia </a:t>
            </a:r>
            <a:r>
              <a:rPr lang="en-US" sz="2400" dirty="0" err="1">
                <a:latin typeface="Arial" panose="020B0604020202020204" pitchFamily="34" charset="0"/>
                <a:cs typeface="Arial" panose="020B0604020202020204" pitchFamily="34" charset="0"/>
              </a:rPr>
              <a:t>nhỏ</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API spec</a:t>
            </a:r>
          </a:p>
          <a:p>
            <a:pPr marL="342900" indent="-342900" algn="just">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Giảm</a:t>
            </a:r>
            <a:r>
              <a:rPr lang="en-US" sz="2400" dirty="0">
                <a:latin typeface="Arial" panose="020B0604020202020204" pitchFamily="34" charset="0"/>
                <a:cs typeface="Arial" panose="020B0604020202020204" pitchFamily="34" charset="0"/>
              </a:rPr>
              <a:t> technical debt </a:t>
            </a:r>
            <a:r>
              <a:rPr lang="en-US" sz="2400" dirty="0" err="1">
                <a:latin typeface="Arial" panose="020B0604020202020204" pitchFamily="34" charset="0"/>
                <a:cs typeface="Arial" panose="020B0604020202020204" pitchFamily="34" charset="0"/>
              </a:rPr>
              <a:t>vì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mọi</a:t>
            </a:r>
            <a:r>
              <a:rPr lang="en-US" sz="2400" dirty="0">
                <a:latin typeface="Arial" panose="020B0604020202020204" pitchFamily="34" charset="0"/>
                <a:cs typeface="Arial" panose="020B0604020202020204" pitchFamily="34" charset="0"/>
              </a:rPr>
              <a:t> service </a:t>
            </a:r>
            <a:r>
              <a:rPr lang="en-US" sz="2400" dirty="0" err="1">
                <a:latin typeface="Arial" panose="020B0604020202020204" pitchFamily="34" charset="0"/>
                <a:cs typeface="Arial" panose="020B0604020202020204" pitchFamily="34" charset="0"/>
              </a:rPr>
              <a:t>tuân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kế</a:t>
            </a:r>
            <a:r>
              <a:rPr lang="en-US" sz="2400" dirty="0">
                <a:latin typeface="Arial" panose="020B0604020202020204" pitchFamily="34" charset="0"/>
                <a:cs typeface="Arial" panose="020B0604020202020204" pitchFamily="34" charset="0"/>
              </a:rPr>
              <a:t> API</a:t>
            </a:r>
          </a:p>
          <a:p>
            <a:pPr marL="342900" indent="-342900" algn="just">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Hệ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thống</a:t>
            </a:r>
            <a:r>
              <a:rPr lang="en-US" sz="2400" dirty="0">
                <a:latin typeface="Arial" panose="020B0604020202020204" pitchFamily="34" charset="0"/>
                <a:cs typeface="Arial" panose="020B0604020202020204" pitchFamily="34" charset="0"/>
              </a:rPr>
              <a:t> CI/CD </a:t>
            </a:r>
            <a:r>
              <a:rPr lang="en-US" sz="2400" dirty="0" err="1">
                <a:latin typeface="Arial" panose="020B0604020202020204" pitchFamily="34" charset="0"/>
                <a:cs typeface="Arial" panose="020B0604020202020204" pitchFamily="34" charset="0"/>
              </a:rPr>
              <a:t>hoạt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ổn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giảm</a:t>
            </a:r>
            <a:r>
              <a:rPr lang="en-US" sz="2400" dirty="0">
                <a:latin typeface="Arial" panose="020B0604020202020204" pitchFamily="34" charset="0"/>
                <a:cs typeface="Arial" panose="020B0604020202020204" pitchFamily="34" charset="0"/>
              </a:rPr>
              <a:t> effort deploy &gt; 50%</a:t>
            </a:r>
          </a:p>
          <a:p>
            <a:pPr marL="342900" indent="-342900" algn="just">
              <a:lnSpc>
                <a:spcPct val="150000"/>
              </a:lnSpc>
              <a:buFont typeface="Wingdings" panose="05000000000000000000" pitchFamily="2" charset="2"/>
              <a:buChar char="§"/>
            </a:pP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thống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bảo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audit logs</a:t>
            </a:r>
          </a:p>
        </p:txBody>
      </p:sp>
    </p:spTree>
    <p:extLst>
      <p:ext uri="{BB962C8B-B14F-4D97-AF65-F5344CB8AC3E}">
        <p14:creationId xmlns:p14="http://schemas.microsoft.com/office/powerpoint/2010/main" val="3968690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CCFF-2D95-8B66-C667-C33D0DED8D9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F8D0D48-B1FC-0FDF-3F00-7F49B991C8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312B696-0ECC-A384-4071-52EE8BA96879}"/>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7B01891-7E75-0235-70B4-C62DC48712AF}"/>
              </a:ext>
            </a:extLst>
          </p:cNvPr>
          <p:cNvSpPr txBox="1"/>
          <p:nvPr/>
        </p:nvSpPr>
        <p:spPr>
          <a:xfrm>
            <a:off x="7356765" y="410188"/>
            <a:ext cx="5313218"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Expected Outcomes</a:t>
            </a:r>
          </a:p>
        </p:txBody>
      </p:sp>
      <p:sp>
        <p:nvSpPr>
          <p:cNvPr id="6" name="TextBox 5">
            <a:extLst>
              <a:ext uri="{FF2B5EF4-FFF2-40B4-BE49-F238E27FC236}">
                <a16:creationId xmlns:a16="http://schemas.microsoft.com/office/drawing/2014/main" id="{0CC4D77D-3C69-E768-446E-5D96CC667D08}"/>
              </a:ext>
            </a:extLst>
          </p:cNvPr>
          <p:cNvSpPr txBox="1"/>
          <p:nvPr/>
        </p:nvSpPr>
        <p:spPr>
          <a:xfrm>
            <a:off x="613066" y="1637575"/>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Long-term Strategic Value</a:t>
            </a:r>
            <a:endParaRPr lang="vi-VN" sz="2800" b="1" dirty="0">
              <a:solidFill>
                <a:srgbClr val="0070C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2EF0E36-8D9E-1BE6-F23A-691B2D4FBB2C}"/>
              </a:ext>
            </a:extLst>
          </p:cNvPr>
          <p:cNvSpPr txBox="1"/>
          <p:nvPr/>
        </p:nvSpPr>
        <p:spPr>
          <a:xfrm>
            <a:off x="862446" y="2690336"/>
            <a:ext cx="9528463" cy="2793842"/>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 Dự án có thể scale để hỗ trợ multi-environment (dev/stage/prod)</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Toàn bộ API &amp; tài liệu dễ onboard developer mới</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Chuẩn hóa quy trình phát triển phần mềm theo hướng API-First</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Có thể tích hợp nhiều dịch vụ AWS khác như AppSync, EventBridge, Step Functions dễ dàng</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5913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D1D8-3BD4-6955-117A-3730CF01D3A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A6039DC-6BEE-75EB-0CEA-7CA330B52D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ln>
            <a:solidFill>
              <a:srgbClr val="252E3F"/>
            </a:solidFill>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6F8F06D-5FE9-D3A8-2C26-BEF8BF8A6E1F}"/>
              </a:ext>
            </a:extLst>
          </p:cNvPr>
          <p:cNvSpPr/>
          <p:nvPr/>
        </p:nvSpPr>
        <p:spPr>
          <a:xfrm>
            <a:off x="7138554" y="218210"/>
            <a:ext cx="5053447" cy="1030288"/>
          </a:xfrm>
          <a:prstGeom prst="rect">
            <a:avLst/>
          </a:prstGeom>
          <a:solidFill>
            <a:srgbClr val="25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85ABD48-5EC9-AB62-8F53-C321538C642D}"/>
              </a:ext>
            </a:extLst>
          </p:cNvPr>
          <p:cNvSpPr txBox="1"/>
          <p:nvPr/>
        </p:nvSpPr>
        <p:spPr>
          <a:xfrm>
            <a:off x="7356765" y="410188"/>
            <a:ext cx="5313218" cy="646331"/>
          </a:xfrm>
          <a:prstGeom prst="rect">
            <a:avLst/>
          </a:prstGeom>
          <a:noFill/>
          <a:ln>
            <a:solidFill>
              <a:srgbClr val="252E3F"/>
            </a:solidFill>
          </a:ln>
        </p:spPr>
        <p:txBody>
          <a:bodyPr wrap="square">
            <a:spAutoFit/>
          </a:bodyPr>
          <a:lstStyle/>
          <a:p>
            <a:pPr>
              <a:buNone/>
            </a:pPr>
            <a:r>
              <a:rPr lang="en-US" sz="3600" b="1" dirty="0">
                <a:solidFill>
                  <a:schemeClr val="bg1"/>
                </a:solidFill>
                <a:latin typeface="Arial" panose="020B0604020202020204" pitchFamily="34" charset="0"/>
                <a:cs typeface="Arial" panose="020B0604020202020204" pitchFamily="34" charset="0"/>
              </a:rPr>
              <a:t>Expected Outcomes</a:t>
            </a:r>
          </a:p>
        </p:txBody>
      </p:sp>
      <p:sp>
        <p:nvSpPr>
          <p:cNvPr id="6" name="TextBox 5">
            <a:extLst>
              <a:ext uri="{FF2B5EF4-FFF2-40B4-BE49-F238E27FC236}">
                <a16:creationId xmlns:a16="http://schemas.microsoft.com/office/drawing/2014/main" id="{3590B670-1F88-75D1-2D53-6494F0297514}"/>
              </a:ext>
            </a:extLst>
          </p:cNvPr>
          <p:cNvSpPr txBox="1"/>
          <p:nvPr/>
        </p:nvSpPr>
        <p:spPr>
          <a:xfrm>
            <a:off x="644236" y="2146729"/>
            <a:ext cx="6338454" cy="523220"/>
          </a:xfrm>
          <a:prstGeom prst="rect">
            <a:avLst/>
          </a:prstGeom>
          <a:noFill/>
        </p:spPr>
        <p:txBody>
          <a:bodyPr wrap="square">
            <a:spAutoFit/>
          </a:bodyPr>
          <a:lstStyle/>
          <a:p>
            <a:pPr marL="457200" indent="-457200">
              <a:buFont typeface="Wingdings" panose="05000000000000000000" pitchFamily="2" charset="2"/>
              <a:buChar char="q"/>
            </a:pPr>
            <a:r>
              <a:rPr lang="en-US" sz="2800" b="1" dirty="0">
                <a:solidFill>
                  <a:srgbClr val="0070C0"/>
                </a:solidFill>
                <a:latin typeface="Arial" panose="020B0604020202020204" pitchFamily="34" charset="0"/>
                <a:cs typeface="Arial" panose="020B0604020202020204" pitchFamily="34" charset="0"/>
              </a:rPr>
              <a:t>User Experience Improvements</a:t>
            </a:r>
            <a:endParaRPr lang="vi-VN" sz="2800" b="1" dirty="0">
              <a:solidFill>
                <a:srgbClr val="0070C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7C0F68A-F091-D97F-E8E3-4A6E45650565}"/>
              </a:ext>
            </a:extLst>
          </p:cNvPr>
          <p:cNvSpPr txBox="1"/>
          <p:nvPr/>
        </p:nvSpPr>
        <p:spPr>
          <a:xfrm>
            <a:off x="1612322" y="3568180"/>
            <a:ext cx="8967355" cy="1685846"/>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API rõ ràng, dễ dùng → giảm lỗi người dùn</a:t>
            </a:r>
            <a:r>
              <a:rPr lang="en-US" sz="2400" dirty="0">
                <a:latin typeface="Arial" panose="020B0604020202020204" pitchFamily="34" charset="0"/>
                <a:cs typeface="Arial" panose="020B0604020202020204" pitchFamily="34" charset="0"/>
              </a:rPr>
              <a:t>g </a:t>
            </a: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Có tài liệu đầy đủ → giúp frontend dev triển khai UI nhanh</a:t>
            </a:r>
            <a:endParaRPr lang="en-US" sz="24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vi-VN" sz="2400" dirty="0">
                <a:latin typeface="Arial" panose="020B0604020202020204" pitchFamily="34" charset="0"/>
                <a:cs typeface="Arial" panose="020B0604020202020204" pitchFamily="34" charset="0"/>
              </a:rPr>
              <a:t>CI/CD đảm bảo uptime, không cần downtime khi deploy</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751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 b="-15"/>
            </a:stretch>
          </a:blipFill>
          <a:ln>
            <a:solidFill>
              <a:srgbClr val="252E3F"/>
            </a:solidFill>
          </a:ln>
        </p:spPr>
        <p:txBody>
          <a:bodyPr/>
          <a:lstStyle/>
          <a:p>
            <a:endParaRPr lang="en-US" sz="1200"/>
          </a:p>
        </p:txBody>
      </p:sp>
      <p:sp>
        <p:nvSpPr>
          <p:cNvPr id="7" name="TextBox 7"/>
          <p:cNvSpPr txBox="1"/>
          <p:nvPr/>
        </p:nvSpPr>
        <p:spPr>
          <a:xfrm>
            <a:off x="720805" y="5607051"/>
            <a:ext cx="2936795" cy="282129"/>
          </a:xfrm>
          <a:prstGeom prst="rect">
            <a:avLst/>
          </a:prstGeom>
        </p:spPr>
        <p:txBody>
          <a:bodyPr wrap="square" lIns="0" tIns="0" rIns="0" bIns="0" rtlCol="0" anchor="t">
            <a:spAutoFit/>
          </a:bodyPr>
          <a:lstStyle/>
          <a:p>
            <a:pPr>
              <a:lnSpc>
                <a:spcPts val="2240"/>
              </a:lnSpc>
            </a:pPr>
            <a:r>
              <a:rPr lang="en-US" sz="1867" dirty="0">
                <a:latin typeface="Ubuntu"/>
                <a:ea typeface="Ubuntu"/>
                <a:cs typeface="Ubuntu"/>
                <a:sym typeface="Ubuntu"/>
              </a:rPr>
              <a:t>Lau Hoang Nguyen</a:t>
            </a:r>
          </a:p>
        </p:txBody>
      </p:sp>
      <p:sp>
        <p:nvSpPr>
          <p:cNvPr id="8" name="TextBox 8"/>
          <p:cNvSpPr txBox="1"/>
          <p:nvPr/>
        </p:nvSpPr>
        <p:spPr>
          <a:xfrm>
            <a:off x="685800" y="2462160"/>
            <a:ext cx="10942001" cy="910506"/>
          </a:xfrm>
          <a:prstGeom prst="rect">
            <a:avLst/>
          </a:prstGeom>
        </p:spPr>
        <p:txBody>
          <a:bodyPr lIns="0" tIns="0" rIns="0" bIns="0" rtlCol="0" anchor="t">
            <a:spAutoFit/>
          </a:bodyPr>
          <a:lstStyle/>
          <a:p>
            <a:pPr>
              <a:lnSpc>
                <a:spcPts val="7107"/>
              </a:lnSpc>
              <a:spcBef>
                <a:spcPct val="0"/>
              </a:spcBef>
            </a:pPr>
            <a:r>
              <a:rPr lang="en-US" sz="5923" b="1" dirty="0">
                <a:latin typeface="Ubuntu Bold"/>
                <a:ea typeface="Ubuntu Bold"/>
                <a:cs typeface="Ubuntu Bold"/>
                <a:sym typeface="Ubuntu Bold"/>
              </a:rPr>
              <a:t>THANK YOU!</a:t>
            </a:r>
          </a:p>
        </p:txBody>
      </p:sp>
      <p:pic>
        <p:nvPicPr>
          <p:cNvPr id="11" name="Picture 2">
            <a:extLst>
              <a:ext uri="{FF2B5EF4-FFF2-40B4-BE49-F238E27FC236}">
                <a16:creationId xmlns:a16="http://schemas.microsoft.com/office/drawing/2014/main" id="{7FAB2162-84E7-121B-3C29-A83AE6A7A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8210"/>
            <a:ext cx="4121152" cy="1030288"/>
          </a:xfrm>
          <a:prstGeom prst="rect">
            <a:avLst/>
          </a:prstGeom>
          <a:noFill/>
          <a:ln>
            <a:solidFill>
              <a:srgbClr val="252E3F"/>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523</TotalTime>
  <Words>2607</Words>
  <Application>Microsoft Office PowerPoint</Application>
  <PresentationFormat>Widescreen</PresentationFormat>
  <Paragraphs>459</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Aptos Display</vt:lpstr>
      <vt:lpstr>Arial</vt:lpstr>
      <vt:lpstr>Ubuntu</vt:lpstr>
      <vt:lpstr>Ubuntu Bold</vt:lpstr>
      <vt:lpstr>Wingdings</vt:lpstr>
      <vt:lpstr>Office Theme</vt:lpstr>
      <vt:lpstr>API-First Development với OpenAPI và Code Generation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Nguyên Lầu</dc:creator>
  <cp:lastModifiedBy>Nguyên Lầu</cp:lastModifiedBy>
  <cp:revision>9</cp:revision>
  <dcterms:created xsi:type="dcterms:W3CDTF">2025-07-08T02:12:07Z</dcterms:created>
  <dcterms:modified xsi:type="dcterms:W3CDTF">2025-07-08T13:42:38Z</dcterms:modified>
</cp:coreProperties>
</file>